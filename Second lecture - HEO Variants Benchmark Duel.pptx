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5" r:id="rId21"/>
  </p:sldIdLst>
  <p:sldSz cx="12192000" cy="6858000"/>
  <p:notesSz cx="6858000" cy="12192000"/>
  <p:embeddedFontLst>
    <p:embeddedFont>
      <p:font typeface="MiSans" panose="020B0604020202020204" charset="-122"/>
      <p:regular r:id="rId23"/>
    </p:embeddedFont>
    <p:embeddedFont>
      <p:font typeface="Noto Sans SC" panose="020B0604020202020204" charset="-128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512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426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FEAD-85EF-894B-65B7-4C82AAF4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4F9F4-41D7-6A2B-C6B0-BA4A804AB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4A86B-C3BA-E4AE-2B6D-9CC267907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5BC5D-74CE-1FCC-5341-915E4791A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0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82C21-2166-E2C0-EF8E-49C55236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CCCBE-B03F-6088-9AFA-0238D5779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BEB90-FB28-FA6E-5BF2-3BC61578E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A01-6649-4BE2-5AF1-12ADDD6AB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8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2-d2nfa3h8bjvh7rlj0gjg.pn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0" y="0"/>
            <a:ext cx="12214225" cy="68586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29025" y="1935480"/>
            <a:ext cx="7943215" cy="211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1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HEO Variants Benchmark Duel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20:07:36-d2nfa218bjvh7rlj0g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575" y="4330700"/>
            <a:ext cx="2272665" cy="6032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367615" y="4432935"/>
            <a:ext cx="2135884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Ali Soltani</a:t>
            </a:r>
          </a:p>
        </p:txBody>
      </p:sp>
      <p:pic>
        <p:nvPicPr>
          <p:cNvPr id="7" name="Image 3" descr="https://kimi-img.moonshot.cn/pub/slides/slides_tmpl/image/25-08-27-20:07:36-d2nfa218bjvh7rlj0g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575" y="5041900"/>
            <a:ext cx="2272665" cy="6032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67615" y="5144135"/>
            <a:ext cx="2135884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1-d2nfa398bjvh7rlj0gig.png"/>
          <p:cNvPicPr>
            <a:picLocks noChangeAspect="1"/>
          </p:cNvPicPr>
          <p:nvPr/>
        </p:nvPicPr>
        <p:blipFill>
          <a:blip r:embed="rId4"/>
          <a:srcRect l="26" r="26"/>
          <a:stretch/>
        </p:blipFill>
        <p:spPr>
          <a:xfrm>
            <a:off x="635" y="-635"/>
            <a:ext cx="12207240" cy="68853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97145" y="1387475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097145" y="1387475"/>
            <a:ext cx="5905500" cy="6731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6279515" y="1489710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7" name="Text 3"/>
          <p:cNvSpPr/>
          <p:nvPr/>
        </p:nvSpPr>
        <p:spPr>
          <a:xfrm>
            <a:off x="5281295" y="1432560"/>
            <a:ext cx="104140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348095" y="1494155"/>
            <a:ext cx="554736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&amp; Zero-Minimum Suite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097145" y="2386330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5097145" y="2386330"/>
            <a:ext cx="5905500" cy="6731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6279515" y="2488565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5281295" y="2431415"/>
            <a:ext cx="104140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48095" y="2493010"/>
            <a:ext cx="559816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Zero-Minimum Results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97145" y="3385185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097145" y="3385185"/>
            <a:ext cx="5905500" cy="6731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flipH="1">
            <a:off x="6279515" y="3487420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17" name="Text 13"/>
          <p:cNvSpPr/>
          <p:nvPr/>
        </p:nvSpPr>
        <p:spPr>
          <a:xfrm>
            <a:off x="5281295" y="3430270"/>
            <a:ext cx="104140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348095" y="3491865"/>
            <a:ext cx="554736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Shifted Benchmark Arena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97145" y="4384040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097145" y="4384040"/>
            <a:ext cx="5905500" cy="6731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 flipH="1">
            <a:off x="6279515" y="4486275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22" name="Text 18"/>
          <p:cNvSpPr/>
          <p:nvPr/>
        </p:nvSpPr>
        <p:spPr>
          <a:xfrm>
            <a:off x="5281295" y="4429125"/>
            <a:ext cx="104140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348095" y="4490720"/>
            <a:ext cx="559816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Numeric Conclusions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097145" y="5382895"/>
            <a:ext cx="5905500" cy="6731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222885" y="988695"/>
            <a:ext cx="409067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0-d2nfa318bjvh7rlj0gfg.jp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8241665" cy="1574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&amp; Zero-Minimum Suite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0400" y="1574800"/>
            <a:ext cx="1150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Experimental Protocol Unveiled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60400" y="21844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rigorous setup for a fair comparison of HEO variants.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60400" y="2946400"/>
            <a:ext cx="2565400" cy="1625600"/>
          </a:xfrm>
          <a:custGeom>
            <a:avLst/>
            <a:gdLst/>
            <a:ahLst/>
            <a:cxnLst/>
            <a:rect l="l" t="t" r="r" b="b"/>
            <a:pathLst>
              <a:path w="2565400" h="1625600">
                <a:moveTo>
                  <a:pt x="152400" y="0"/>
                </a:moveTo>
                <a:lnTo>
                  <a:pt x="2413000" y="0"/>
                </a:lnTo>
                <a:cubicBezTo>
                  <a:pt x="2497112" y="0"/>
                  <a:pt x="2565400" y="68288"/>
                  <a:pt x="2565400" y="152400"/>
                </a:cubicBezTo>
                <a:lnTo>
                  <a:pt x="2565400" y="1473200"/>
                </a:lnTo>
                <a:cubicBezTo>
                  <a:pt x="2565400" y="1557312"/>
                  <a:pt x="2497112" y="1625600"/>
                  <a:pt x="24130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603970" y="3302000"/>
            <a:ext cx="977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A75F5">
                    <a:alpha val="667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488480" y="39624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429000" y="2946400"/>
            <a:ext cx="2565400" cy="1625600"/>
          </a:xfrm>
          <a:custGeom>
            <a:avLst/>
            <a:gdLst/>
            <a:ahLst/>
            <a:cxnLst/>
            <a:rect l="l" t="t" r="r" b="b"/>
            <a:pathLst>
              <a:path w="2565400" h="1625600">
                <a:moveTo>
                  <a:pt x="152400" y="0"/>
                </a:moveTo>
                <a:lnTo>
                  <a:pt x="2413000" y="0"/>
                </a:lnTo>
                <a:cubicBezTo>
                  <a:pt x="2497112" y="0"/>
                  <a:pt x="2565400" y="68288"/>
                  <a:pt x="2565400" y="152400"/>
                </a:cubicBezTo>
                <a:lnTo>
                  <a:pt x="2565400" y="1473200"/>
                </a:lnTo>
                <a:cubicBezTo>
                  <a:pt x="2565400" y="1557312"/>
                  <a:pt x="2497112" y="1625600"/>
                  <a:pt x="24130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203105" y="3302000"/>
            <a:ext cx="132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EB8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252317" y="39624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Population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97600" y="2946400"/>
            <a:ext cx="2565400" cy="1625600"/>
          </a:xfrm>
          <a:custGeom>
            <a:avLst/>
            <a:gdLst/>
            <a:ahLst/>
            <a:cxnLst/>
            <a:rect l="l" t="t" r="r" b="b"/>
            <a:pathLst>
              <a:path w="2565400" h="1625600">
                <a:moveTo>
                  <a:pt x="152400" y="0"/>
                </a:moveTo>
                <a:lnTo>
                  <a:pt x="2413000" y="0"/>
                </a:lnTo>
                <a:cubicBezTo>
                  <a:pt x="2497112" y="0"/>
                  <a:pt x="2565400" y="68288"/>
                  <a:pt x="2565400" y="152400"/>
                </a:cubicBezTo>
                <a:lnTo>
                  <a:pt x="2565400" y="1473200"/>
                </a:lnTo>
                <a:cubicBezTo>
                  <a:pt x="2565400" y="1557312"/>
                  <a:pt x="2497112" y="1625600"/>
                  <a:pt x="24130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802239" y="3302000"/>
            <a:ext cx="166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A75F5">
                    <a:alpha val="667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1000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80052" y="39624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Iterations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966200" y="2946400"/>
            <a:ext cx="2565400" cy="1625600"/>
          </a:xfrm>
          <a:custGeom>
            <a:avLst/>
            <a:gdLst/>
            <a:ahLst/>
            <a:cxnLst/>
            <a:rect l="l" t="t" r="r" b="b"/>
            <a:pathLst>
              <a:path w="2565400" h="1625600">
                <a:moveTo>
                  <a:pt x="152400" y="0"/>
                </a:moveTo>
                <a:lnTo>
                  <a:pt x="2413000" y="0"/>
                </a:lnTo>
                <a:cubicBezTo>
                  <a:pt x="2497112" y="0"/>
                  <a:pt x="2565400" y="68288"/>
                  <a:pt x="2565400" y="152400"/>
                </a:cubicBezTo>
                <a:lnTo>
                  <a:pt x="2565400" y="1473200"/>
                </a:lnTo>
                <a:cubicBezTo>
                  <a:pt x="2565400" y="1557312"/>
                  <a:pt x="2497112" y="1625600"/>
                  <a:pt x="24130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9909770" y="3302000"/>
            <a:ext cx="977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EB8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473406" y="3962400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Independent Runs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09600" y="49784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Benchmarks: </a:t>
            </a:r>
            <a:r>
              <a:rPr lang="en-US" sz="1600" b="1" dirty="0">
                <a:solidFill>
                  <a:srgbClr val="F8A8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Sphere, Rosenbrock, Rastrigin, Griewank, Levy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shifted versions with optimum at </a:t>
            </a:r>
            <a:r>
              <a:rPr lang="en-US" sz="1600" b="1" dirty="0">
                <a:solidFill>
                  <a:srgbClr val="F8A8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123.456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752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Zero-Minimum Battleground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96850" y="23622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the global optimum is exactly zero, exposing raw optimizer performance.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7272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1082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8A75F5">
              <a:alpha val="66667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8699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Unimodal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826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Tests convergence speed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924550" y="3505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71438" y="128588"/>
                </a:moveTo>
                <a:cubicBezTo>
                  <a:pt x="110865" y="128588"/>
                  <a:pt x="142875" y="96577"/>
                  <a:pt x="142875" y="57150"/>
                </a:cubicBezTo>
                <a:cubicBezTo>
                  <a:pt x="142875" y="17723"/>
                  <a:pt x="110865" y="-14287"/>
                  <a:pt x="71438" y="-14287"/>
                </a:cubicBezTo>
                <a:cubicBezTo>
                  <a:pt x="32010" y="-14287"/>
                  <a:pt x="0" y="17723"/>
                  <a:pt x="0" y="57150"/>
                </a:cubicBezTo>
                <a:cubicBezTo>
                  <a:pt x="0" y="96577"/>
                  <a:pt x="32010" y="128588"/>
                  <a:pt x="71437" y="128588"/>
                </a:cubicBezTo>
                <a:close/>
                <a:moveTo>
                  <a:pt x="71438" y="300038"/>
                </a:moveTo>
                <a:cubicBezTo>
                  <a:pt x="110865" y="300038"/>
                  <a:pt x="142875" y="268027"/>
                  <a:pt x="142875" y="228600"/>
                </a:cubicBezTo>
                <a:cubicBezTo>
                  <a:pt x="142875" y="189173"/>
                  <a:pt x="110865" y="157163"/>
                  <a:pt x="71438" y="157163"/>
                </a:cubicBezTo>
                <a:cubicBezTo>
                  <a:pt x="32010" y="157163"/>
                  <a:pt x="0" y="189173"/>
                  <a:pt x="0" y="228600"/>
                </a:cubicBezTo>
                <a:cubicBezTo>
                  <a:pt x="0" y="268027"/>
                  <a:pt x="32010" y="300038"/>
                  <a:pt x="71437" y="300038"/>
                </a:cubicBezTo>
                <a:close/>
                <a:moveTo>
                  <a:pt x="71438" y="421481"/>
                </a:moveTo>
                <a:cubicBezTo>
                  <a:pt x="59561" y="421481"/>
                  <a:pt x="50006" y="411926"/>
                  <a:pt x="50006" y="400050"/>
                </a:cubicBezTo>
                <a:cubicBezTo>
                  <a:pt x="50006" y="388174"/>
                  <a:pt x="59561" y="378619"/>
                  <a:pt x="71438" y="378619"/>
                </a:cubicBezTo>
                <a:cubicBezTo>
                  <a:pt x="83314" y="378619"/>
                  <a:pt x="92869" y="388174"/>
                  <a:pt x="92869" y="400050"/>
                </a:cubicBezTo>
                <a:cubicBezTo>
                  <a:pt x="92869" y="411926"/>
                  <a:pt x="83314" y="421481"/>
                  <a:pt x="71438" y="421481"/>
                </a:cubicBezTo>
                <a:close/>
                <a:moveTo>
                  <a:pt x="71438" y="471488"/>
                </a:moveTo>
                <a:cubicBezTo>
                  <a:pt x="110907" y="471488"/>
                  <a:pt x="142875" y="439519"/>
                  <a:pt x="142875" y="400050"/>
                </a:cubicBezTo>
                <a:cubicBezTo>
                  <a:pt x="142875" y="360581"/>
                  <a:pt x="110907" y="328613"/>
                  <a:pt x="71438" y="328613"/>
                </a:cubicBezTo>
                <a:cubicBezTo>
                  <a:pt x="31968" y="328613"/>
                  <a:pt x="0" y="360581"/>
                  <a:pt x="0" y="400050"/>
                </a:cubicBezTo>
                <a:cubicBezTo>
                  <a:pt x="0" y="439519"/>
                  <a:pt x="31968" y="471488"/>
                  <a:pt x="71438" y="471488"/>
                </a:cubicBezTo>
                <a:close/>
                <a:moveTo>
                  <a:pt x="292894" y="400050"/>
                </a:moveTo>
                <a:cubicBezTo>
                  <a:pt x="292894" y="411926"/>
                  <a:pt x="283339" y="421481"/>
                  <a:pt x="271463" y="421481"/>
                </a:cubicBezTo>
                <a:cubicBezTo>
                  <a:pt x="259586" y="421481"/>
                  <a:pt x="250031" y="411926"/>
                  <a:pt x="250031" y="400050"/>
                </a:cubicBezTo>
                <a:cubicBezTo>
                  <a:pt x="250031" y="388174"/>
                  <a:pt x="259586" y="378619"/>
                  <a:pt x="271463" y="378619"/>
                </a:cubicBezTo>
                <a:cubicBezTo>
                  <a:pt x="283339" y="378619"/>
                  <a:pt x="292894" y="388174"/>
                  <a:pt x="292894" y="400050"/>
                </a:cubicBezTo>
                <a:close/>
                <a:moveTo>
                  <a:pt x="342900" y="400050"/>
                </a:moveTo>
                <a:cubicBezTo>
                  <a:pt x="342900" y="360581"/>
                  <a:pt x="310932" y="328613"/>
                  <a:pt x="271463" y="328613"/>
                </a:cubicBezTo>
                <a:cubicBezTo>
                  <a:pt x="231993" y="328613"/>
                  <a:pt x="200025" y="360581"/>
                  <a:pt x="200025" y="400050"/>
                </a:cubicBezTo>
                <a:cubicBezTo>
                  <a:pt x="200025" y="439519"/>
                  <a:pt x="231993" y="471488"/>
                  <a:pt x="271463" y="471488"/>
                </a:cubicBezTo>
                <a:cubicBezTo>
                  <a:pt x="310932" y="471488"/>
                  <a:pt x="342900" y="439519"/>
                  <a:pt x="342900" y="400050"/>
                </a:cubicBezTo>
                <a:close/>
                <a:moveTo>
                  <a:pt x="271463" y="207169"/>
                </a:moveTo>
                <a:cubicBezTo>
                  <a:pt x="283291" y="207169"/>
                  <a:pt x="292894" y="216772"/>
                  <a:pt x="292894" y="228600"/>
                </a:cubicBezTo>
                <a:cubicBezTo>
                  <a:pt x="292894" y="240428"/>
                  <a:pt x="283291" y="250031"/>
                  <a:pt x="271463" y="250031"/>
                </a:cubicBezTo>
                <a:cubicBezTo>
                  <a:pt x="259634" y="250031"/>
                  <a:pt x="250031" y="240428"/>
                  <a:pt x="250031" y="228600"/>
                </a:cubicBezTo>
                <a:cubicBezTo>
                  <a:pt x="250031" y="216772"/>
                  <a:pt x="259634" y="207169"/>
                  <a:pt x="271463" y="207169"/>
                </a:cubicBezTo>
                <a:close/>
                <a:moveTo>
                  <a:pt x="271463" y="300038"/>
                </a:moveTo>
                <a:cubicBezTo>
                  <a:pt x="310890" y="300038"/>
                  <a:pt x="342900" y="268027"/>
                  <a:pt x="342900" y="228600"/>
                </a:cubicBezTo>
                <a:cubicBezTo>
                  <a:pt x="342900" y="189173"/>
                  <a:pt x="310890" y="157163"/>
                  <a:pt x="271463" y="157163"/>
                </a:cubicBezTo>
                <a:cubicBezTo>
                  <a:pt x="232035" y="157163"/>
                  <a:pt x="200025" y="189173"/>
                  <a:pt x="200025" y="228600"/>
                </a:cubicBezTo>
                <a:cubicBezTo>
                  <a:pt x="200025" y="268027"/>
                  <a:pt x="232035" y="300038"/>
                  <a:pt x="271463" y="300038"/>
                </a:cubicBezTo>
                <a:close/>
                <a:moveTo>
                  <a:pt x="271463" y="128588"/>
                </a:moveTo>
                <a:cubicBezTo>
                  <a:pt x="310890" y="128588"/>
                  <a:pt x="342900" y="96577"/>
                  <a:pt x="342900" y="57150"/>
                </a:cubicBezTo>
                <a:cubicBezTo>
                  <a:pt x="342900" y="17723"/>
                  <a:pt x="310890" y="-14287"/>
                  <a:pt x="271463" y="-14287"/>
                </a:cubicBezTo>
                <a:cubicBezTo>
                  <a:pt x="232035" y="-14287"/>
                  <a:pt x="200025" y="17723"/>
                  <a:pt x="200025" y="57150"/>
                </a:cubicBezTo>
                <a:cubicBezTo>
                  <a:pt x="200025" y="96577"/>
                  <a:pt x="232035" y="128588"/>
                  <a:pt x="271463" y="128588"/>
                </a:cubicBezTo>
                <a:close/>
              </a:path>
            </a:pathLst>
          </a:custGeom>
          <a:solidFill>
            <a:srgbClr val="8EB8F8"/>
          </a:solidFill>
          <a:ln/>
        </p:spPr>
      </p:sp>
      <p:sp>
        <p:nvSpPr>
          <p:cNvPr id="12" name="Text 8"/>
          <p:cNvSpPr/>
          <p:nvPr/>
        </p:nvSpPr>
        <p:spPr>
          <a:xfrm>
            <a:off x="46291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18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Evaluates exploration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2456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8A8D8">
              <a:alpha val="2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96266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85725"/>
                </a:moveTo>
                <a:cubicBezTo>
                  <a:pt x="57150" y="69919"/>
                  <a:pt x="69919" y="57150"/>
                  <a:pt x="85725" y="57150"/>
                </a:cubicBezTo>
                <a:lnTo>
                  <a:pt x="228600" y="57150"/>
                </a:lnTo>
                <a:cubicBezTo>
                  <a:pt x="244406" y="57150"/>
                  <a:pt x="257175" y="69919"/>
                  <a:pt x="257175" y="85725"/>
                </a:cubicBezTo>
                <a:lnTo>
                  <a:pt x="257175" y="342900"/>
                </a:lnTo>
                <a:lnTo>
                  <a:pt x="342900" y="342900"/>
                </a:lnTo>
                <a:lnTo>
                  <a:pt x="342900" y="228600"/>
                </a:lnTo>
                <a:cubicBezTo>
                  <a:pt x="342900" y="212794"/>
                  <a:pt x="355669" y="200025"/>
                  <a:pt x="37147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400050" y="257175"/>
                </a:lnTo>
                <a:lnTo>
                  <a:pt x="400050" y="371475"/>
                </a:lnTo>
                <a:cubicBezTo>
                  <a:pt x="400050" y="387281"/>
                  <a:pt x="387281" y="400050"/>
                  <a:pt x="371475" y="400050"/>
                </a:cubicBezTo>
                <a:lnTo>
                  <a:pt x="228600" y="400050"/>
                </a:lnTo>
                <a:cubicBezTo>
                  <a:pt x="212794" y="400050"/>
                  <a:pt x="200025" y="387281"/>
                  <a:pt x="200025" y="371475"/>
                </a:cubicBezTo>
                <a:lnTo>
                  <a:pt x="200025" y="114300"/>
                </a:lnTo>
                <a:lnTo>
                  <a:pt x="114300" y="114300"/>
                </a:lnTo>
                <a:lnTo>
                  <a:pt x="114300" y="228600"/>
                </a:lnTo>
                <a:cubicBezTo>
                  <a:pt x="114300" y="244406"/>
                  <a:pt x="101531" y="257175"/>
                  <a:pt x="85725" y="257175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57150" y="200025"/>
                </a:lnTo>
                <a:lnTo>
                  <a:pt x="57150" y="85725"/>
                </a:ln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6" name="Text 12"/>
          <p:cNvSpPr/>
          <p:nvPr/>
        </p:nvSpPr>
        <p:spPr>
          <a:xfrm>
            <a:off x="83883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Rugged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010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Assesses robustness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C18D8-BAEF-AB37-4D58-72913791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>
            <a:extLst>
              <a:ext uri="{FF2B5EF4-FFF2-40B4-BE49-F238E27FC236}">
                <a16:creationId xmlns:a16="http://schemas.microsoft.com/office/drawing/2014/main" id="{BE308BCC-3DB4-5C69-AF50-22FDA122BC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>
            <a:extLst>
              <a:ext uri="{FF2B5EF4-FFF2-40B4-BE49-F238E27FC236}">
                <a16:creationId xmlns:a16="http://schemas.microsoft.com/office/drawing/2014/main" id="{B0529453-6F86-CE7D-5669-862A618A0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7705EF8-561D-9FD5-3EC4-F482D8C44843}"/>
              </a:ext>
            </a:extLst>
          </p:cNvPr>
          <p:cNvSpPr/>
          <p:nvPr/>
        </p:nvSpPr>
        <p:spPr>
          <a:xfrm>
            <a:off x="139700" y="1752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Zero-Minimum Battleground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E85FAE2-0D86-EE28-1084-55E8227EE997}"/>
              </a:ext>
            </a:extLst>
          </p:cNvPr>
          <p:cNvSpPr/>
          <p:nvPr/>
        </p:nvSpPr>
        <p:spPr>
          <a:xfrm>
            <a:off x="196850" y="23622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the global optimum is exactly zero, exposing raw optimizer performance.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BDE3F67-FF56-B25D-2E56-D3CBE79D9CAC}"/>
              </a:ext>
            </a:extLst>
          </p:cNvPr>
          <p:cNvSpPr/>
          <p:nvPr/>
        </p:nvSpPr>
        <p:spPr>
          <a:xfrm>
            <a:off x="17272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CAED3D1-B98C-241B-EA7D-42E8B08E9A11}"/>
              </a:ext>
            </a:extLst>
          </p:cNvPr>
          <p:cNvSpPr/>
          <p:nvPr/>
        </p:nvSpPr>
        <p:spPr>
          <a:xfrm>
            <a:off x="21082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8A75F5">
              <a:alpha val="66667"/>
            </a:srgbClr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0E58AFA-A827-419F-1539-92074070CCEB}"/>
              </a:ext>
            </a:extLst>
          </p:cNvPr>
          <p:cNvSpPr/>
          <p:nvPr/>
        </p:nvSpPr>
        <p:spPr>
          <a:xfrm>
            <a:off x="8699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Unimodal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9B6C2F5-5A44-F64D-6236-78C17D7BDA8B}"/>
              </a:ext>
            </a:extLst>
          </p:cNvPr>
          <p:cNvSpPr/>
          <p:nvPr/>
        </p:nvSpPr>
        <p:spPr>
          <a:xfrm>
            <a:off x="8826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Tests convergence speed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B4198BB-E11E-F68B-3935-EB6910C238B7}"/>
              </a:ext>
            </a:extLst>
          </p:cNvPr>
          <p:cNvSpPr/>
          <p:nvPr/>
        </p:nvSpPr>
        <p:spPr>
          <a:xfrm>
            <a:off x="54864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334838C-7114-620E-EE63-3C4A6C73B54D}"/>
              </a:ext>
            </a:extLst>
          </p:cNvPr>
          <p:cNvSpPr/>
          <p:nvPr/>
        </p:nvSpPr>
        <p:spPr>
          <a:xfrm>
            <a:off x="5924550" y="3505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71438" y="128588"/>
                </a:moveTo>
                <a:cubicBezTo>
                  <a:pt x="110865" y="128588"/>
                  <a:pt x="142875" y="96577"/>
                  <a:pt x="142875" y="57150"/>
                </a:cubicBezTo>
                <a:cubicBezTo>
                  <a:pt x="142875" y="17723"/>
                  <a:pt x="110865" y="-14287"/>
                  <a:pt x="71438" y="-14287"/>
                </a:cubicBezTo>
                <a:cubicBezTo>
                  <a:pt x="32010" y="-14287"/>
                  <a:pt x="0" y="17723"/>
                  <a:pt x="0" y="57150"/>
                </a:cubicBezTo>
                <a:cubicBezTo>
                  <a:pt x="0" y="96577"/>
                  <a:pt x="32010" y="128588"/>
                  <a:pt x="71437" y="128588"/>
                </a:cubicBezTo>
                <a:close/>
                <a:moveTo>
                  <a:pt x="71438" y="300038"/>
                </a:moveTo>
                <a:cubicBezTo>
                  <a:pt x="110865" y="300038"/>
                  <a:pt x="142875" y="268027"/>
                  <a:pt x="142875" y="228600"/>
                </a:cubicBezTo>
                <a:cubicBezTo>
                  <a:pt x="142875" y="189173"/>
                  <a:pt x="110865" y="157163"/>
                  <a:pt x="71438" y="157163"/>
                </a:cubicBezTo>
                <a:cubicBezTo>
                  <a:pt x="32010" y="157163"/>
                  <a:pt x="0" y="189173"/>
                  <a:pt x="0" y="228600"/>
                </a:cubicBezTo>
                <a:cubicBezTo>
                  <a:pt x="0" y="268027"/>
                  <a:pt x="32010" y="300038"/>
                  <a:pt x="71437" y="300038"/>
                </a:cubicBezTo>
                <a:close/>
                <a:moveTo>
                  <a:pt x="71438" y="421481"/>
                </a:moveTo>
                <a:cubicBezTo>
                  <a:pt x="59561" y="421481"/>
                  <a:pt x="50006" y="411926"/>
                  <a:pt x="50006" y="400050"/>
                </a:cubicBezTo>
                <a:cubicBezTo>
                  <a:pt x="50006" y="388174"/>
                  <a:pt x="59561" y="378619"/>
                  <a:pt x="71438" y="378619"/>
                </a:cubicBezTo>
                <a:cubicBezTo>
                  <a:pt x="83314" y="378619"/>
                  <a:pt x="92869" y="388174"/>
                  <a:pt x="92869" y="400050"/>
                </a:cubicBezTo>
                <a:cubicBezTo>
                  <a:pt x="92869" y="411926"/>
                  <a:pt x="83314" y="421481"/>
                  <a:pt x="71438" y="421481"/>
                </a:cubicBezTo>
                <a:close/>
                <a:moveTo>
                  <a:pt x="71438" y="471488"/>
                </a:moveTo>
                <a:cubicBezTo>
                  <a:pt x="110907" y="471488"/>
                  <a:pt x="142875" y="439519"/>
                  <a:pt x="142875" y="400050"/>
                </a:cubicBezTo>
                <a:cubicBezTo>
                  <a:pt x="142875" y="360581"/>
                  <a:pt x="110907" y="328613"/>
                  <a:pt x="71438" y="328613"/>
                </a:cubicBezTo>
                <a:cubicBezTo>
                  <a:pt x="31968" y="328613"/>
                  <a:pt x="0" y="360581"/>
                  <a:pt x="0" y="400050"/>
                </a:cubicBezTo>
                <a:cubicBezTo>
                  <a:pt x="0" y="439519"/>
                  <a:pt x="31968" y="471488"/>
                  <a:pt x="71438" y="471488"/>
                </a:cubicBezTo>
                <a:close/>
                <a:moveTo>
                  <a:pt x="292894" y="400050"/>
                </a:moveTo>
                <a:cubicBezTo>
                  <a:pt x="292894" y="411926"/>
                  <a:pt x="283339" y="421481"/>
                  <a:pt x="271463" y="421481"/>
                </a:cubicBezTo>
                <a:cubicBezTo>
                  <a:pt x="259586" y="421481"/>
                  <a:pt x="250031" y="411926"/>
                  <a:pt x="250031" y="400050"/>
                </a:cubicBezTo>
                <a:cubicBezTo>
                  <a:pt x="250031" y="388174"/>
                  <a:pt x="259586" y="378619"/>
                  <a:pt x="271463" y="378619"/>
                </a:cubicBezTo>
                <a:cubicBezTo>
                  <a:pt x="283339" y="378619"/>
                  <a:pt x="292894" y="388174"/>
                  <a:pt x="292894" y="400050"/>
                </a:cubicBezTo>
                <a:close/>
                <a:moveTo>
                  <a:pt x="342900" y="400050"/>
                </a:moveTo>
                <a:cubicBezTo>
                  <a:pt x="342900" y="360581"/>
                  <a:pt x="310932" y="328613"/>
                  <a:pt x="271463" y="328613"/>
                </a:cubicBezTo>
                <a:cubicBezTo>
                  <a:pt x="231993" y="328613"/>
                  <a:pt x="200025" y="360581"/>
                  <a:pt x="200025" y="400050"/>
                </a:cubicBezTo>
                <a:cubicBezTo>
                  <a:pt x="200025" y="439519"/>
                  <a:pt x="231993" y="471488"/>
                  <a:pt x="271463" y="471488"/>
                </a:cubicBezTo>
                <a:cubicBezTo>
                  <a:pt x="310932" y="471488"/>
                  <a:pt x="342900" y="439519"/>
                  <a:pt x="342900" y="400050"/>
                </a:cubicBezTo>
                <a:close/>
                <a:moveTo>
                  <a:pt x="271463" y="207169"/>
                </a:moveTo>
                <a:cubicBezTo>
                  <a:pt x="283291" y="207169"/>
                  <a:pt x="292894" y="216772"/>
                  <a:pt x="292894" y="228600"/>
                </a:cubicBezTo>
                <a:cubicBezTo>
                  <a:pt x="292894" y="240428"/>
                  <a:pt x="283291" y="250031"/>
                  <a:pt x="271463" y="250031"/>
                </a:cubicBezTo>
                <a:cubicBezTo>
                  <a:pt x="259634" y="250031"/>
                  <a:pt x="250031" y="240428"/>
                  <a:pt x="250031" y="228600"/>
                </a:cubicBezTo>
                <a:cubicBezTo>
                  <a:pt x="250031" y="216772"/>
                  <a:pt x="259634" y="207169"/>
                  <a:pt x="271463" y="207169"/>
                </a:cubicBezTo>
                <a:close/>
                <a:moveTo>
                  <a:pt x="271463" y="300038"/>
                </a:moveTo>
                <a:cubicBezTo>
                  <a:pt x="310890" y="300038"/>
                  <a:pt x="342900" y="268027"/>
                  <a:pt x="342900" y="228600"/>
                </a:cubicBezTo>
                <a:cubicBezTo>
                  <a:pt x="342900" y="189173"/>
                  <a:pt x="310890" y="157163"/>
                  <a:pt x="271463" y="157163"/>
                </a:cubicBezTo>
                <a:cubicBezTo>
                  <a:pt x="232035" y="157163"/>
                  <a:pt x="200025" y="189173"/>
                  <a:pt x="200025" y="228600"/>
                </a:cubicBezTo>
                <a:cubicBezTo>
                  <a:pt x="200025" y="268027"/>
                  <a:pt x="232035" y="300038"/>
                  <a:pt x="271463" y="300038"/>
                </a:cubicBezTo>
                <a:close/>
                <a:moveTo>
                  <a:pt x="271463" y="128588"/>
                </a:moveTo>
                <a:cubicBezTo>
                  <a:pt x="310890" y="128588"/>
                  <a:pt x="342900" y="96577"/>
                  <a:pt x="342900" y="57150"/>
                </a:cubicBezTo>
                <a:cubicBezTo>
                  <a:pt x="342900" y="17723"/>
                  <a:pt x="310890" y="-14287"/>
                  <a:pt x="271463" y="-14287"/>
                </a:cubicBezTo>
                <a:cubicBezTo>
                  <a:pt x="232035" y="-14287"/>
                  <a:pt x="200025" y="17723"/>
                  <a:pt x="200025" y="57150"/>
                </a:cubicBezTo>
                <a:cubicBezTo>
                  <a:pt x="200025" y="96577"/>
                  <a:pt x="232035" y="128588"/>
                  <a:pt x="271463" y="128588"/>
                </a:cubicBezTo>
                <a:close/>
              </a:path>
            </a:pathLst>
          </a:custGeom>
          <a:solidFill>
            <a:srgbClr val="8EB8F8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7CFF4B8-D4DA-3F5A-788B-20683570BF27}"/>
              </a:ext>
            </a:extLst>
          </p:cNvPr>
          <p:cNvSpPr/>
          <p:nvPr/>
        </p:nvSpPr>
        <p:spPr>
          <a:xfrm>
            <a:off x="46291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7AEAF84-D229-68A0-C1A2-91C9FA8904B2}"/>
              </a:ext>
            </a:extLst>
          </p:cNvPr>
          <p:cNvSpPr/>
          <p:nvPr/>
        </p:nvSpPr>
        <p:spPr>
          <a:xfrm>
            <a:off x="46418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Evaluates exploration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8B9BD73-5EDF-B9B4-F2B1-29FE3042DC88}"/>
              </a:ext>
            </a:extLst>
          </p:cNvPr>
          <p:cNvSpPr/>
          <p:nvPr/>
        </p:nvSpPr>
        <p:spPr>
          <a:xfrm>
            <a:off x="92456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8A8D8">
              <a:alpha val="20000"/>
            </a:srgbClr>
          </a:solidFill>
          <a:ln/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A85132C-5B36-3055-D1B6-C5E24845F58B}"/>
              </a:ext>
            </a:extLst>
          </p:cNvPr>
          <p:cNvSpPr/>
          <p:nvPr/>
        </p:nvSpPr>
        <p:spPr>
          <a:xfrm>
            <a:off x="96266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85725"/>
                </a:moveTo>
                <a:cubicBezTo>
                  <a:pt x="57150" y="69919"/>
                  <a:pt x="69919" y="57150"/>
                  <a:pt x="85725" y="57150"/>
                </a:cubicBezTo>
                <a:lnTo>
                  <a:pt x="228600" y="57150"/>
                </a:lnTo>
                <a:cubicBezTo>
                  <a:pt x="244406" y="57150"/>
                  <a:pt x="257175" y="69919"/>
                  <a:pt x="257175" y="85725"/>
                </a:cubicBezTo>
                <a:lnTo>
                  <a:pt x="257175" y="342900"/>
                </a:lnTo>
                <a:lnTo>
                  <a:pt x="342900" y="342900"/>
                </a:lnTo>
                <a:lnTo>
                  <a:pt x="342900" y="228600"/>
                </a:lnTo>
                <a:cubicBezTo>
                  <a:pt x="342900" y="212794"/>
                  <a:pt x="355669" y="200025"/>
                  <a:pt x="37147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400050" y="257175"/>
                </a:lnTo>
                <a:lnTo>
                  <a:pt x="400050" y="371475"/>
                </a:lnTo>
                <a:cubicBezTo>
                  <a:pt x="400050" y="387281"/>
                  <a:pt x="387281" y="400050"/>
                  <a:pt x="371475" y="400050"/>
                </a:cubicBezTo>
                <a:lnTo>
                  <a:pt x="228600" y="400050"/>
                </a:lnTo>
                <a:cubicBezTo>
                  <a:pt x="212794" y="400050"/>
                  <a:pt x="200025" y="387281"/>
                  <a:pt x="200025" y="371475"/>
                </a:cubicBezTo>
                <a:lnTo>
                  <a:pt x="200025" y="114300"/>
                </a:lnTo>
                <a:lnTo>
                  <a:pt x="114300" y="114300"/>
                </a:lnTo>
                <a:lnTo>
                  <a:pt x="114300" y="228600"/>
                </a:lnTo>
                <a:cubicBezTo>
                  <a:pt x="114300" y="244406"/>
                  <a:pt x="101531" y="257175"/>
                  <a:pt x="85725" y="257175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57150" y="200025"/>
                </a:lnTo>
                <a:lnTo>
                  <a:pt x="57150" y="85725"/>
                </a:ln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E9C1736-A224-69D8-B79E-4FE280441B0F}"/>
              </a:ext>
            </a:extLst>
          </p:cNvPr>
          <p:cNvSpPr/>
          <p:nvPr/>
        </p:nvSpPr>
        <p:spPr>
          <a:xfrm>
            <a:off x="83883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Rugged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01B25F0-44DE-9758-0E51-7E2B5B469968}"/>
              </a:ext>
            </a:extLst>
          </p:cNvPr>
          <p:cNvSpPr/>
          <p:nvPr/>
        </p:nvSpPr>
        <p:spPr>
          <a:xfrm>
            <a:off x="84010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Assesses robustness</a:t>
            </a:r>
            <a:endParaRPr lang="en-US" sz="1600" dirty="0"/>
          </a:p>
        </p:txBody>
      </p:sp>
      <p:pic>
        <p:nvPicPr>
          <p:cNvPr id="18" name="Image 0" descr="https://kimi-img.moonshot.cn/pub/slides/banana/19b1bada-2872-8098-8000-00003b72681d.png?kimi-sig=fWKXE6pispHtMdqToEzlPcDt6PYJxmGsBJxG1DBZmAI">
            <a:extLst>
              <a:ext uri="{FF2B5EF4-FFF2-40B4-BE49-F238E27FC236}">
                <a16:creationId xmlns:a16="http://schemas.microsoft.com/office/drawing/2014/main" id="{CD1D941E-2259-8105-6F51-68B2335D9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915" y="-36830"/>
            <a:ext cx="12355830" cy="695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664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8E79F-C134-0436-0AEF-DB2055F5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>
            <a:extLst>
              <a:ext uri="{FF2B5EF4-FFF2-40B4-BE49-F238E27FC236}">
                <a16:creationId xmlns:a16="http://schemas.microsoft.com/office/drawing/2014/main" id="{0CC53B33-DA27-F3EE-B1D6-C4A0B5AE4A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>
            <a:extLst>
              <a:ext uri="{FF2B5EF4-FFF2-40B4-BE49-F238E27FC236}">
                <a16:creationId xmlns:a16="http://schemas.microsoft.com/office/drawing/2014/main" id="{F755A330-3CBB-56DB-2681-ABB128BFE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AACBA8F-DB07-D43A-18BA-53AA92D737C7}"/>
              </a:ext>
            </a:extLst>
          </p:cNvPr>
          <p:cNvSpPr/>
          <p:nvPr/>
        </p:nvSpPr>
        <p:spPr>
          <a:xfrm>
            <a:off x="139700" y="1752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Zero-Minimum Battleground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AA3CE4E-D6A0-7639-223C-488A31F0F8D1}"/>
              </a:ext>
            </a:extLst>
          </p:cNvPr>
          <p:cNvSpPr/>
          <p:nvPr/>
        </p:nvSpPr>
        <p:spPr>
          <a:xfrm>
            <a:off x="196850" y="23622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the global optimum is exactly zero, exposing raw optimizer performance.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DBD8125-F1B6-7D54-BBF2-B9A33E93EE20}"/>
              </a:ext>
            </a:extLst>
          </p:cNvPr>
          <p:cNvSpPr/>
          <p:nvPr/>
        </p:nvSpPr>
        <p:spPr>
          <a:xfrm>
            <a:off x="17272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8E265F2-6327-EC81-9455-9A543B517FEA}"/>
              </a:ext>
            </a:extLst>
          </p:cNvPr>
          <p:cNvSpPr/>
          <p:nvPr/>
        </p:nvSpPr>
        <p:spPr>
          <a:xfrm>
            <a:off x="21082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8A75F5">
              <a:alpha val="66667"/>
            </a:srgbClr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B9FEBC2-BC4B-2288-D3EF-34C20C4E88AB}"/>
              </a:ext>
            </a:extLst>
          </p:cNvPr>
          <p:cNvSpPr/>
          <p:nvPr/>
        </p:nvSpPr>
        <p:spPr>
          <a:xfrm>
            <a:off x="8699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Unimodal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B89B10F-0224-A6AA-0577-4A574463FAF1}"/>
              </a:ext>
            </a:extLst>
          </p:cNvPr>
          <p:cNvSpPr/>
          <p:nvPr/>
        </p:nvSpPr>
        <p:spPr>
          <a:xfrm>
            <a:off x="8826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Tests convergence speed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7909F83-E4A8-9238-26CC-D1B03EB4FE36}"/>
              </a:ext>
            </a:extLst>
          </p:cNvPr>
          <p:cNvSpPr/>
          <p:nvPr/>
        </p:nvSpPr>
        <p:spPr>
          <a:xfrm>
            <a:off x="54864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5D9DB46-9E35-A623-8442-F76474EDBFC9}"/>
              </a:ext>
            </a:extLst>
          </p:cNvPr>
          <p:cNvSpPr/>
          <p:nvPr/>
        </p:nvSpPr>
        <p:spPr>
          <a:xfrm>
            <a:off x="5924550" y="3505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71438" y="128588"/>
                </a:moveTo>
                <a:cubicBezTo>
                  <a:pt x="110865" y="128588"/>
                  <a:pt x="142875" y="96577"/>
                  <a:pt x="142875" y="57150"/>
                </a:cubicBezTo>
                <a:cubicBezTo>
                  <a:pt x="142875" y="17723"/>
                  <a:pt x="110865" y="-14287"/>
                  <a:pt x="71438" y="-14287"/>
                </a:cubicBezTo>
                <a:cubicBezTo>
                  <a:pt x="32010" y="-14287"/>
                  <a:pt x="0" y="17723"/>
                  <a:pt x="0" y="57150"/>
                </a:cubicBezTo>
                <a:cubicBezTo>
                  <a:pt x="0" y="96577"/>
                  <a:pt x="32010" y="128588"/>
                  <a:pt x="71437" y="128588"/>
                </a:cubicBezTo>
                <a:close/>
                <a:moveTo>
                  <a:pt x="71438" y="300038"/>
                </a:moveTo>
                <a:cubicBezTo>
                  <a:pt x="110865" y="300038"/>
                  <a:pt x="142875" y="268027"/>
                  <a:pt x="142875" y="228600"/>
                </a:cubicBezTo>
                <a:cubicBezTo>
                  <a:pt x="142875" y="189173"/>
                  <a:pt x="110865" y="157163"/>
                  <a:pt x="71438" y="157163"/>
                </a:cubicBezTo>
                <a:cubicBezTo>
                  <a:pt x="32010" y="157163"/>
                  <a:pt x="0" y="189173"/>
                  <a:pt x="0" y="228600"/>
                </a:cubicBezTo>
                <a:cubicBezTo>
                  <a:pt x="0" y="268027"/>
                  <a:pt x="32010" y="300038"/>
                  <a:pt x="71437" y="300038"/>
                </a:cubicBezTo>
                <a:close/>
                <a:moveTo>
                  <a:pt x="71438" y="421481"/>
                </a:moveTo>
                <a:cubicBezTo>
                  <a:pt x="59561" y="421481"/>
                  <a:pt x="50006" y="411926"/>
                  <a:pt x="50006" y="400050"/>
                </a:cubicBezTo>
                <a:cubicBezTo>
                  <a:pt x="50006" y="388174"/>
                  <a:pt x="59561" y="378619"/>
                  <a:pt x="71438" y="378619"/>
                </a:cubicBezTo>
                <a:cubicBezTo>
                  <a:pt x="83314" y="378619"/>
                  <a:pt x="92869" y="388174"/>
                  <a:pt x="92869" y="400050"/>
                </a:cubicBezTo>
                <a:cubicBezTo>
                  <a:pt x="92869" y="411926"/>
                  <a:pt x="83314" y="421481"/>
                  <a:pt x="71438" y="421481"/>
                </a:cubicBezTo>
                <a:close/>
                <a:moveTo>
                  <a:pt x="71438" y="471488"/>
                </a:moveTo>
                <a:cubicBezTo>
                  <a:pt x="110907" y="471488"/>
                  <a:pt x="142875" y="439519"/>
                  <a:pt x="142875" y="400050"/>
                </a:cubicBezTo>
                <a:cubicBezTo>
                  <a:pt x="142875" y="360581"/>
                  <a:pt x="110907" y="328613"/>
                  <a:pt x="71438" y="328613"/>
                </a:cubicBezTo>
                <a:cubicBezTo>
                  <a:pt x="31968" y="328613"/>
                  <a:pt x="0" y="360581"/>
                  <a:pt x="0" y="400050"/>
                </a:cubicBezTo>
                <a:cubicBezTo>
                  <a:pt x="0" y="439519"/>
                  <a:pt x="31968" y="471488"/>
                  <a:pt x="71438" y="471488"/>
                </a:cubicBezTo>
                <a:close/>
                <a:moveTo>
                  <a:pt x="292894" y="400050"/>
                </a:moveTo>
                <a:cubicBezTo>
                  <a:pt x="292894" y="411926"/>
                  <a:pt x="283339" y="421481"/>
                  <a:pt x="271463" y="421481"/>
                </a:cubicBezTo>
                <a:cubicBezTo>
                  <a:pt x="259586" y="421481"/>
                  <a:pt x="250031" y="411926"/>
                  <a:pt x="250031" y="400050"/>
                </a:cubicBezTo>
                <a:cubicBezTo>
                  <a:pt x="250031" y="388174"/>
                  <a:pt x="259586" y="378619"/>
                  <a:pt x="271463" y="378619"/>
                </a:cubicBezTo>
                <a:cubicBezTo>
                  <a:pt x="283339" y="378619"/>
                  <a:pt x="292894" y="388174"/>
                  <a:pt x="292894" y="400050"/>
                </a:cubicBezTo>
                <a:close/>
                <a:moveTo>
                  <a:pt x="342900" y="400050"/>
                </a:moveTo>
                <a:cubicBezTo>
                  <a:pt x="342900" y="360581"/>
                  <a:pt x="310932" y="328613"/>
                  <a:pt x="271463" y="328613"/>
                </a:cubicBezTo>
                <a:cubicBezTo>
                  <a:pt x="231993" y="328613"/>
                  <a:pt x="200025" y="360581"/>
                  <a:pt x="200025" y="400050"/>
                </a:cubicBezTo>
                <a:cubicBezTo>
                  <a:pt x="200025" y="439519"/>
                  <a:pt x="231993" y="471488"/>
                  <a:pt x="271463" y="471488"/>
                </a:cubicBezTo>
                <a:cubicBezTo>
                  <a:pt x="310932" y="471488"/>
                  <a:pt x="342900" y="439519"/>
                  <a:pt x="342900" y="400050"/>
                </a:cubicBezTo>
                <a:close/>
                <a:moveTo>
                  <a:pt x="271463" y="207169"/>
                </a:moveTo>
                <a:cubicBezTo>
                  <a:pt x="283291" y="207169"/>
                  <a:pt x="292894" y="216772"/>
                  <a:pt x="292894" y="228600"/>
                </a:cubicBezTo>
                <a:cubicBezTo>
                  <a:pt x="292894" y="240428"/>
                  <a:pt x="283291" y="250031"/>
                  <a:pt x="271463" y="250031"/>
                </a:cubicBezTo>
                <a:cubicBezTo>
                  <a:pt x="259634" y="250031"/>
                  <a:pt x="250031" y="240428"/>
                  <a:pt x="250031" y="228600"/>
                </a:cubicBezTo>
                <a:cubicBezTo>
                  <a:pt x="250031" y="216772"/>
                  <a:pt x="259634" y="207169"/>
                  <a:pt x="271463" y="207169"/>
                </a:cubicBezTo>
                <a:close/>
                <a:moveTo>
                  <a:pt x="271463" y="300038"/>
                </a:moveTo>
                <a:cubicBezTo>
                  <a:pt x="310890" y="300038"/>
                  <a:pt x="342900" y="268027"/>
                  <a:pt x="342900" y="228600"/>
                </a:cubicBezTo>
                <a:cubicBezTo>
                  <a:pt x="342900" y="189173"/>
                  <a:pt x="310890" y="157163"/>
                  <a:pt x="271463" y="157163"/>
                </a:cubicBezTo>
                <a:cubicBezTo>
                  <a:pt x="232035" y="157163"/>
                  <a:pt x="200025" y="189173"/>
                  <a:pt x="200025" y="228600"/>
                </a:cubicBezTo>
                <a:cubicBezTo>
                  <a:pt x="200025" y="268027"/>
                  <a:pt x="232035" y="300038"/>
                  <a:pt x="271463" y="300038"/>
                </a:cubicBezTo>
                <a:close/>
                <a:moveTo>
                  <a:pt x="271463" y="128588"/>
                </a:moveTo>
                <a:cubicBezTo>
                  <a:pt x="310890" y="128588"/>
                  <a:pt x="342900" y="96577"/>
                  <a:pt x="342900" y="57150"/>
                </a:cubicBezTo>
                <a:cubicBezTo>
                  <a:pt x="342900" y="17723"/>
                  <a:pt x="310890" y="-14287"/>
                  <a:pt x="271463" y="-14287"/>
                </a:cubicBezTo>
                <a:cubicBezTo>
                  <a:pt x="232035" y="-14287"/>
                  <a:pt x="200025" y="17723"/>
                  <a:pt x="200025" y="57150"/>
                </a:cubicBezTo>
                <a:cubicBezTo>
                  <a:pt x="200025" y="96577"/>
                  <a:pt x="232035" y="128588"/>
                  <a:pt x="271463" y="128588"/>
                </a:cubicBezTo>
                <a:close/>
              </a:path>
            </a:pathLst>
          </a:custGeom>
          <a:solidFill>
            <a:srgbClr val="8EB8F8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8A30638-B1D8-597E-3DFD-E9A38CD8585C}"/>
              </a:ext>
            </a:extLst>
          </p:cNvPr>
          <p:cNvSpPr/>
          <p:nvPr/>
        </p:nvSpPr>
        <p:spPr>
          <a:xfrm>
            <a:off x="46291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F31D314-C2D1-4598-8E4E-B7BD804BEE44}"/>
              </a:ext>
            </a:extLst>
          </p:cNvPr>
          <p:cNvSpPr/>
          <p:nvPr/>
        </p:nvSpPr>
        <p:spPr>
          <a:xfrm>
            <a:off x="46418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Evaluates exploration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D96E1AE-C6FD-0442-7E4E-6EB22AF5EAAC}"/>
              </a:ext>
            </a:extLst>
          </p:cNvPr>
          <p:cNvSpPr/>
          <p:nvPr/>
        </p:nvSpPr>
        <p:spPr>
          <a:xfrm>
            <a:off x="9245600" y="3124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8A8D8">
              <a:alpha val="20000"/>
            </a:srgbClr>
          </a:solidFill>
          <a:ln/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8E507C1F-86F1-CF92-C5D7-71ED4C1A75DF}"/>
              </a:ext>
            </a:extLst>
          </p:cNvPr>
          <p:cNvSpPr/>
          <p:nvPr/>
        </p:nvSpPr>
        <p:spPr>
          <a:xfrm>
            <a:off x="96266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85725"/>
                </a:moveTo>
                <a:cubicBezTo>
                  <a:pt x="57150" y="69919"/>
                  <a:pt x="69919" y="57150"/>
                  <a:pt x="85725" y="57150"/>
                </a:cubicBezTo>
                <a:lnTo>
                  <a:pt x="228600" y="57150"/>
                </a:lnTo>
                <a:cubicBezTo>
                  <a:pt x="244406" y="57150"/>
                  <a:pt x="257175" y="69919"/>
                  <a:pt x="257175" y="85725"/>
                </a:cubicBezTo>
                <a:lnTo>
                  <a:pt x="257175" y="342900"/>
                </a:lnTo>
                <a:lnTo>
                  <a:pt x="342900" y="342900"/>
                </a:lnTo>
                <a:lnTo>
                  <a:pt x="342900" y="228600"/>
                </a:lnTo>
                <a:cubicBezTo>
                  <a:pt x="342900" y="212794"/>
                  <a:pt x="355669" y="200025"/>
                  <a:pt x="37147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400050" y="257175"/>
                </a:lnTo>
                <a:lnTo>
                  <a:pt x="400050" y="371475"/>
                </a:lnTo>
                <a:cubicBezTo>
                  <a:pt x="400050" y="387281"/>
                  <a:pt x="387281" y="400050"/>
                  <a:pt x="371475" y="400050"/>
                </a:cubicBezTo>
                <a:lnTo>
                  <a:pt x="228600" y="400050"/>
                </a:lnTo>
                <a:cubicBezTo>
                  <a:pt x="212794" y="400050"/>
                  <a:pt x="200025" y="387281"/>
                  <a:pt x="200025" y="371475"/>
                </a:cubicBezTo>
                <a:lnTo>
                  <a:pt x="200025" y="114300"/>
                </a:lnTo>
                <a:lnTo>
                  <a:pt x="114300" y="114300"/>
                </a:lnTo>
                <a:lnTo>
                  <a:pt x="114300" y="228600"/>
                </a:lnTo>
                <a:cubicBezTo>
                  <a:pt x="114300" y="244406"/>
                  <a:pt x="101531" y="257175"/>
                  <a:pt x="85725" y="257175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57150" y="200025"/>
                </a:lnTo>
                <a:lnTo>
                  <a:pt x="57150" y="85725"/>
                </a:ln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D8DD7D1-0407-9788-B478-A8C92338CA91}"/>
              </a:ext>
            </a:extLst>
          </p:cNvPr>
          <p:cNvSpPr/>
          <p:nvPr/>
        </p:nvSpPr>
        <p:spPr>
          <a:xfrm>
            <a:off x="8388350" y="4495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Rugged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482F925-CAE6-F2E2-936B-E4C01317CBF4}"/>
              </a:ext>
            </a:extLst>
          </p:cNvPr>
          <p:cNvSpPr/>
          <p:nvPr/>
        </p:nvSpPr>
        <p:spPr>
          <a:xfrm>
            <a:off x="8401050" y="4851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Assesses robustness</a:t>
            </a:r>
            <a:endParaRPr lang="en-US" sz="1600" dirty="0"/>
          </a:p>
        </p:txBody>
      </p:sp>
      <p:pic>
        <p:nvPicPr>
          <p:cNvPr id="18" name="Image 0" descr="https://kimi-img.moonshot.cn/pub/slides/banana/19b1bada-2872-8098-8000-00003b72681d.png?kimi-sig=fWKXE6pispHtMdqToEzlPcDt6PYJxmGsBJxG1DBZmAI">
            <a:extLst>
              <a:ext uri="{FF2B5EF4-FFF2-40B4-BE49-F238E27FC236}">
                <a16:creationId xmlns:a16="http://schemas.microsoft.com/office/drawing/2014/main" id="{BB1F1124-6354-0225-926B-CF741CE7D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915" y="-36830"/>
            <a:ext cx="12355830" cy="6950154"/>
          </a:xfrm>
          <a:prstGeom prst="rect">
            <a:avLst/>
          </a:prstGeom>
        </p:spPr>
      </p:pic>
      <p:pic>
        <p:nvPicPr>
          <p:cNvPr id="19" name="Image 0" descr="https://kimi-img.moonshot.cn/pub/slides/banana/19b1badb-8992-81ce-8000-0000d9375b39.png?kimi-sig=ghD3--o6lcsUJ3wcwsSck6vH7HyMGl8EEUivJY_B_TM">
            <a:extLst>
              <a:ext uri="{FF2B5EF4-FFF2-40B4-BE49-F238E27FC236}">
                <a16:creationId xmlns:a16="http://schemas.microsoft.com/office/drawing/2014/main" id="{66A222AE-D86C-8BF8-E878-8DCF823C4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355829" cy="695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2566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0-d2nfa318bjvh7rlj0gfg.jp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8241665" cy="749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Zero-Minimum Results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7272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Sphere &amp; Rosenbrock Showdown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921147" y="2540000"/>
            <a:ext cx="4343400" cy="2590800"/>
          </a:xfrm>
          <a:custGeom>
            <a:avLst/>
            <a:gdLst/>
            <a:ahLst/>
            <a:cxnLst/>
            <a:rect l="l" t="t" r="r" b="b"/>
            <a:pathLst>
              <a:path w="4343400" h="2590800">
                <a:moveTo>
                  <a:pt x="203196" y="0"/>
                </a:moveTo>
                <a:lnTo>
                  <a:pt x="4140204" y="0"/>
                </a:lnTo>
                <a:cubicBezTo>
                  <a:pt x="4252426" y="0"/>
                  <a:pt x="4343400" y="90974"/>
                  <a:pt x="4343400" y="203196"/>
                </a:cubicBezTo>
                <a:lnTo>
                  <a:pt x="4343400" y="2387604"/>
                </a:lnTo>
                <a:cubicBezTo>
                  <a:pt x="4343400" y="2499826"/>
                  <a:pt x="4252426" y="2590800"/>
                  <a:pt x="4140204" y="2590800"/>
                </a:cubicBezTo>
                <a:lnTo>
                  <a:pt x="203196" y="2590800"/>
                </a:lnTo>
                <a:cubicBezTo>
                  <a:pt x="90974" y="2590800"/>
                  <a:pt x="0" y="2499826"/>
                  <a:pt x="0" y="23876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A75F5">
              <a:alpha val="6667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1149747" y="28448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Sphere Function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916708" y="3454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053556" y="3454400"/>
            <a:ext cx="1163042" cy="355600"/>
          </a:xfrm>
          <a:custGeom>
            <a:avLst/>
            <a:gdLst/>
            <a:ahLst/>
            <a:cxnLst/>
            <a:rect l="l" t="t" r="r" b="b"/>
            <a:pathLst>
              <a:path w="1163042" h="355600">
                <a:moveTo>
                  <a:pt x="50801" y="0"/>
                </a:moveTo>
                <a:lnTo>
                  <a:pt x="1112241" y="0"/>
                </a:lnTo>
                <a:cubicBezTo>
                  <a:pt x="1140298" y="0"/>
                  <a:pt x="1163042" y="22744"/>
                  <a:pt x="1163042" y="50801"/>
                </a:cubicBezTo>
                <a:lnTo>
                  <a:pt x="1163042" y="304799"/>
                </a:lnTo>
                <a:cubicBezTo>
                  <a:pt x="1163042" y="332856"/>
                  <a:pt x="1140298" y="355600"/>
                  <a:pt x="1112241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9" name="Text 5"/>
          <p:cNvSpPr/>
          <p:nvPr/>
        </p:nvSpPr>
        <p:spPr>
          <a:xfrm>
            <a:off x="2996406" y="3454400"/>
            <a:ext cx="1277342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1.70e+01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8308" y="3962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098006" y="4013200"/>
            <a:ext cx="10741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4.23e+01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018308" y="4470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098006" y="4521200"/>
            <a:ext cx="10741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2.87e+04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91002" y="3581400"/>
            <a:ext cx="83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A8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922492" y="2540000"/>
            <a:ext cx="4343400" cy="2590800"/>
          </a:xfrm>
          <a:custGeom>
            <a:avLst/>
            <a:gdLst/>
            <a:ahLst/>
            <a:cxnLst/>
            <a:rect l="l" t="t" r="r" b="b"/>
            <a:pathLst>
              <a:path w="4343400" h="2590800">
                <a:moveTo>
                  <a:pt x="203196" y="0"/>
                </a:moveTo>
                <a:lnTo>
                  <a:pt x="4140204" y="0"/>
                </a:lnTo>
                <a:cubicBezTo>
                  <a:pt x="4252426" y="0"/>
                  <a:pt x="4343400" y="90974"/>
                  <a:pt x="4343400" y="203196"/>
                </a:cubicBezTo>
                <a:lnTo>
                  <a:pt x="4343400" y="2387604"/>
                </a:lnTo>
                <a:cubicBezTo>
                  <a:pt x="4343400" y="2499826"/>
                  <a:pt x="4252426" y="2590800"/>
                  <a:pt x="4140204" y="2590800"/>
                </a:cubicBezTo>
                <a:lnTo>
                  <a:pt x="203196" y="2590800"/>
                </a:lnTo>
                <a:cubicBezTo>
                  <a:pt x="90974" y="2590800"/>
                  <a:pt x="0" y="2499826"/>
                  <a:pt x="0" y="23876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EB8F8">
              <a:alpha val="10196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151092" y="28448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Rosenbrock Function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918053" y="3454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054902" y="3454400"/>
            <a:ext cx="1163042" cy="355600"/>
          </a:xfrm>
          <a:custGeom>
            <a:avLst/>
            <a:gdLst/>
            <a:ahLst/>
            <a:cxnLst/>
            <a:rect l="l" t="t" r="r" b="b"/>
            <a:pathLst>
              <a:path w="1163042" h="355600">
                <a:moveTo>
                  <a:pt x="50801" y="0"/>
                </a:moveTo>
                <a:lnTo>
                  <a:pt x="1112241" y="0"/>
                </a:lnTo>
                <a:cubicBezTo>
                  <a:pt x="1140298" y="0"/>
                  <a:pt x="1163042" y="22744"/>
                  <a:pt x="1163042" y="50801"/>
                </a:cubicBezTo>
                <a:lnTo>
                  <a:pt x="1163042" y="304799"/>
                </a:lnTo>
                <a:cubicBezTo>
                  <a:pt x="1163042" y="332856"/>
                  <a:pt x="1140298" y="355600"/>
                  <a:pt x="1112241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9" name="Text 15"/>
          <p:cNvSpPr/>
          <p:nvPr/>
        </p:nvSpPr>
        <p:spPr>
          <a:xfrm>
            <a:off x="8997752" y="3454400"/>
            <a:ext cx="1277342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3.60e+03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019653" y="3962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099352" y="4013200"/>
            <a:ext cx="10741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1.08e+04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111728" y="4470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HEO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9191427" y="4521200"/>
            <a:ext cx="8899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~1e+10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7272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Rastrigin &amp; Griewank Face-Off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921147" y="2540000"/>
            <a:ext cx="4343400" cy="2590800"/>
          </a:xfrm>
          <a:custGeom>
            <a:avLst/>
            <a:gdLst/>
            <a:ahLst/>
            <a:cxnLst/>
            <a:rect l="l" t="t" r="r" b="b"/>
            <a:pathLst>
              <a:path w="4343400" h="2590800">
                <a:moveTo>
                  <a:pt x="203196" y="0"/>
                </a:moveTo>
                <a:lnTo>
                  <a:pt x="4140204" y="0"/>
                </a:lnTo>
                <a:cubicBezTo>
                  <a:pt x="4252426" y="0"/>
                  <a:pt x="4343400" y="90974"/>
                  <a:pt x="4343400" y="203196"/>
                </a:cubicBezTo>
                <a:lnTo>
                  <a:pt x="4343400" y="2387604"/>
                </a:lnTo>
                <a:cubicBezTo>
                  <a:pt x="4343400" y="2499826"/>
                  <a:pt x="4252426" y="2590800"/>
                  <a:pt x="4140204" y="2590800"/>
                </a:cubicBezTo>
                <a:lnTo>
                  <a:pt x="203196" y="2590800"/>
                </a:lnTo>
                <a:cubicBezTo>
                  <a:pt x="90974" y="2590800"/>
                  <a:pt x="0" y="2499826"/>
                  <a:pt x="0" y="23876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A75F5">
              <a:alpha val="6667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1149747" y="28448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Rastrigin Function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916708" y="3454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053556" y="3454400"/>
            <a:ext cx="1163042" cy="355600"/>
          </a:xfrm>
          <a:custGeom>
            <a:avLst/>
            <a:gdLst/>
            <a:ahLst/>
            <a:cxnLst/>
            <a:rect l="l" t="t" r="r" b="b"/>
            <a:pathLst>
              <a:path w="1163042" h="355600">
                <a:moveTo>
                  <a:pt x="50801" y="0"/>
                </a:moveTo>
                <a:lnTo>
                  <a:pt x="1112241" y="0"/>
                </a:lnTo>
                <a:cubicBezTo>
                  <a:pt x="1140298" y="0"/>
                  <a:pt x="1163042" y="22744"/>
                  <a:pt x="1163042" y="50801"/>
                </a:cubicBezTo>
                <a:lnTo>
                  <a:pt x="1163042" y="304799"/>
                </a:lnTo>
                <a:cubicBezTo>
                  <a:pt x="1163042" y="332856"/>
                  <a:pt x="1140298" y="355600"/>
                  <a:pt x="1112241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9" name="Text 5"/>
          <p:cNvSpPr/>
          <p:nvPr/>
        </p:nvSpPr>
        <p:spPr>
          <a:xfrm>
            <a:off x="2996406" y="3454400"/>
            <a:ext cx="1277342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2.63e+02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8308" y="3962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098006" y="4013200"/>
            <a:ext cx="10741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2.97e+02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018308" y="4470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098006" y="4521200"/>
            <a:ext cx="10741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8.17e+00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91002" y="3581400"/>
            <a:ext cx="83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A8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922492" y="2540000"/>
            <a:ext cx="4343400" cy="2590800"/>
          </a:xfrm>
          <a:custGeom>
            <a:avLst/>
            <a:gdLst/>
            <a:ahLst/>
            <a:cxnLst/>
            <a:rect l="l" t="t" r="r" b="b"/>
            <a:pathLst>
              <a:path w="4343400" h="2590800">
                <a:moveTo>
                  <a:pt x="203196" y="0"/>
                </a:moveTo>
                <a:lnTo>
                  <a:pt x="4140204" y="0"/>
                </a:lnTo>
                <a:cubicBezTo>
                  <a:pt x="4252426" y="0"/>
                  <a:pt x="4343400" y="90974"/>
                  <a:pt x="4343400" y="203196"/>
                </a:cubicBezTo>
                <a:lnTo>
                  <a:pt x="4343400" y="2387604"/>
                </a:lnTo>
                <a:cubicBezTo>
                  <a:pt x="4343400" y="2499826"/>
                  <a:pt x="4252426" y="2590800"/>
                  <a:pt x="4140204" y="2590800"/>
                </a:cubicBezTo>
                <a:lnTo>
                  <a:pt x="203196" y="2590800"/>
                </a:lnTo>
                <a:cubicBezTo>
                  <a:pt x="90974" y="2590800"/>
                  <a:pt x="0" y="2499826"/>
                  <a:pt x="0" y="23876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EB8F8">
              <a:alpha val="10196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151092" y="28448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Griewank Function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946827" y="3454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CIBA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083675" y="3454400"/>
            <a:ext cx="1105694" cy="355600"/>
          </a:xfrm>
          <a:custGeom>
            <a:avLst/>
            <a:gdLst/>
            <a:ahLst/>
            <a:cxnLst/>
            <a:rect l="l" t="t" r="r" b="b"/>
            <a:pathLst>
              <a:path w="1105694" h="355600">
                <a:moveTo>
                  <a:pt x="50801" y="0"/>
                </a:moveTo>
                <a:lnTo>
                  <a:pt x="1054893" y="0"/>
                </a:lnTo>
                <a:cubicBezTo>
                  <a:pt x="1082949" y="0"/>
                  <a:pt x="1105694" y="22744"/>
                  <a:pt x="1105694" y="50801"/>
                </a:cubicBezTo>
                <a:lnTo>
                  <a:pt x="1105694" y="304799"/>
                </a:lnTo>
                <a:cubicBezTo>
                  <a:pt x="1105694" y="332856"/>
                  <a:pt x="1082949" y="355600"/>
                  <a:pt x="1054893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9" name="Text 15"/>
          <p:cNvSpPr/>
          <p:nvPr/>
        </p:nvSpPr>
        <p:spPr>
          <a:xfrm>
            <a:off x="9026525" y="3454400"/>
            <a:ext cx="1219994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7.39e-01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048427" y="3962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128125" y="4013200"/>
            <a:ext cx="10167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7.56e-01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048427" y="4470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9128125" y="4521200"/>
            <a:ext cx="10167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9.23e-01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930400"/>
            <a:ext cx="607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Levy Function Cliffhanger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2641600"/>
            <a:ext cx="595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test of sharp unimodal ridges, where speed is key.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39700" y="3327400"/>
            <a:ext cx="133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76400" y="3302000"/>
            <a:ext cx="2794000" cy="406400"/>
          </a:xfrm>
          <a:custGeom>
            <a:avLst/>
            <a:gdLst/>
            <a:ahLst/>
            <a:cxnLst/>
            <a:rect l="l" t="t" r="r" b="b"/>
            <a:pathLst>
              <a:path w="2794000" h="406400">
                <a:moveTo>
                  <a:pt x="203200" y="0"/>
                </a:moveTo>
                <a:lnTo>
                  <a:pt x="2590800" y="0"/>
                </a:lnTo>
                <a:cubicBezTo>
                  <a:pt x="2702949" y="0"/>
                  <a:pt x="2794000" y="91051"/>
                  <a:pt x="2794000" y="203200"/>
                </a:cubicBezTo>
                <a:lnTo>
                  <a:pt x="2794000" y="203200"/>
                </a:lnTo>
                <a:cubicBezTo>
                  <a:pt x="2794000" y="315349"/>
                  <a:pt x="2702949" y="406400"/>
                  <a:pt x="2590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676400" y="3302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03200" y="0"/>
                </a:moveTo>
                <a:lnTo>
                  <a:pt x="304800" y="0"/>
                </a:lnTo>
                <a:cubicBezTo>
                  <a:pt x="416949" y="0"/>
                  <a:pt x="508000" y="91051"/>
                  <a:pt x="508000" y="203200"/>
                </a:cubicBezTo>
                <a:lnTo>
                  <a:pt x="508000" y="203200"/>
                </a:lnTo>
                <a:cubicBezTo>
                  <a:pt x="508000" y="315349"/>
                  <a:pt x="416949" y="406400"/>
                  <a:pt x="304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EB8F8"/>
          </a:solidFill>
          <a:ln/>
        </p:spPr>
      </p:sp>
      <p:sp>
        <p:nvSpPr>
          <p:cNvPr id="9" name="Text 5"/>
          <p:cNvSpPr/>
          <p:nvPr/>
        </p:nvSpPr>
        <p:spPr>
          <a:xfrm>
            <a:off x="4673600" y="3327400"/>
            <a:ext cx="153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7.36e+00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9700" y="3937000"/>
            <a:ext cx="133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676400" y="3911600"/>
            <a:ext cx="2794000" cy="406400"/>
          </a:xfrm>
          <a:custGeom>
            <a:avLst/>
            <a:gdLst/>
            <a:ahLst/>
            <a:cxnLst/>
            <a:rect l="l" t="t" r="r" b="b"/>
            <a:pathLst>
              <a:path w="2794000" h="406400">
                <a:moveTo>
                  <a:pt x="203200" y="0"/>
                </a:moveTo>
                <a:lnTo>
                  <a:pt x="2590800" y="0"/>
                </a:lnTo>
                <a:cubicBezTo>
                  <a:pt x="2702949" y="0"/>
                  <a:pt x="2794000" y="91051"/>
                  <a:pt x="2794000" y="203200"/>
                </a:cubicBezTo>
                <a:lnTo>
                  <a:pt x="2794000" y="203200"/>
                </a:lnTo>
                <a:cubicBezTo>
                  <a:pt x="2794000" y="315349"/>
                  <a:pt x="2702949" y="406400"/>
                  <a:pt x="2590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1676400" y="3911600"/>
            <a:ext cx="609600" cy="406400"/>
          </a:xfrm>
          <a:custGeom>
            <a:avLst/>
            <a:gdLst/>
            <a:ahLst/>
            <a:cxnLst/>
            <a:rect l="l" t="t" r="r" b="b"/>
            <a:pathLst>
              <a:path w="609600" h="406400">
                <a:moveTo>
                  <a:pt x="203200" y="0"/>
                </a:moveTo>
                <a:lnTo>
                  <a:pt x="406400" y="0"/>
                </a:lnTo>
                <a:cubicBezTo>
                  <a:pt x="518549" y="0"/>
                  <a:pt x="609600" y="91051"/>
                  <a:pt x="609600" y="203200"/>
                </a:cubicBezTo>
                <a:lnTo>
                  <a:pt x="609600" y="203200"/>
                </a:lnTo>
                <a:cubicBezTo>
                  <a:pt x="609600" y="315349"/>
                  <a:pt x="518549" y="406400"/>
                  <a:pt x="4064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673600" y="3937000"/>
            <a:ext cx="153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8.87e+00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9700" y="4546600"/>
            <a:ext cx="133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676400" y="4521200"/>
            <a:ext cx="2794000" cy="406400"/>
          </a:xfrm>
          <a:custGeom>
            <a:avLst/>
            <a:gdLst/>
            <a:ahLst/>
            <a:cxnLst/>
            <a:rect l="l" t="t" r="r" b="b"/>
            <a:pathLst>
              <a:path w="2794000" h="406400">
                <a:moveTo>
                  <a:pt x="203200" y="0"/>
                </a:moveTo>
                <a:lnTo>
                  <a:pt x="2590800" y="0"/>
                </a:lnTo>
                <a:cubicBezTo>
                  <a:pt x="2702949" y="0"/>
                  <a:pt x="2794000" y="91051"/>
                  <a:pt x="2794000" y="203200"/>
                </a:cubicBezTo>
                <a:lnTo>
                  <a:pt x="2794000" y="203200"/>
                </a:lnTo>
                <a:cubicBezTo>
                  <a:pt x="2794000" y="315349"/>
                  <a:pt x="2702949" y="406400"/>
                  <a:pt x="2590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6" name="Shape 12"/>
          <p:cNvSpPr/>
          <p:nvPr/>
        </p:nvSpPr>
        <p:spPr>
          <a:xfrm>
            <a:off x="1676400" y="4521200"/>
            <a:ext cx="2794000" cy="406400"/>
          </a:xfrm>
          <a:custGeom>
            <a:avLst/>
            <a:gdLst/>
            <a:ahLst/>
            <a:cxnLst/>
            <a:rect l="l" t="t" r="r" b="b"/>
            <a:pathLst>
              <a:path w="2794000" h="406400">
                <a:moveTo>
                  <a:pt x="203200" y="0"/>
                </a:moveTo>
                <a:lnTo>
                  <a:pt x="2590800" y="0"/>
                </a:lnTo>
                <a:cubicBezTo>
                  <a:pt x="2702949" y="0"/>
                  <a:pt x="2794000" y="91051"/>
                  <a:pt x="2794000" y="203200"/>
                </a:cubicBezTo>
                <a:lnTo>
                  <a:pt x="2794000" y="203200"/>
                </a:lnTo>
                <a:cubicBezTo>
                  <a:pt x="2794000" y="315349"/>
                  <a:pt x="2702949" y="406400"/>
                  <a:pt x="2590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7" name="Text 13"/>
          <p:cNvSpPr/>
          <p:nvPr/>
        </p:nvSpPr>
        <p:spPr>
          <a:xfrm>
            <a:off x="4673600" y="4546600"/>
            <a:ext cx="153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8.11e+03</a:t>
            </a:r>
            <a:endParaRPr lang="en-US" sz="1600" dirty="0"/>
          </a:p>
        </p:txBody>
      </p:sp>
      <p:pic>
        <p:nvPicPr>
          <p:cNvPr id="19" name="Image 0" descr="https://kimi-img.moonshot.cn/pub/slides/banana/19b1bad9-7a82-8427-8000-0000e5502fcc.png?kimi-sig=CLh7d7Ix0H15ldLXHy_ECZk_c6PsSUe9N8c7J3s2n5U">
            <a:extLst>
              <a:ext uri="{FF2B5EF4-FFF2-40B4-BE49-F238E27FC236}">
                <a16:creationId xmlns:a16="http://schemas.microsoft.com/office/drawing/2014/main" id="{DD263AD1-6875-2050-62A5-CC53C760A0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18003" r="34114" b="26406"/>
          <a:stretch>
            <a:fillRect/>
          </a:stretch>
        </p:blipFill>
        <p:spPr>
          <a:xfrm>
            <a:off x="5859509" y="1865086"/>
            <a:ext cx="6270171" cy="31205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0-d2nfa318bjvh7rlj0gfg.jp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8241665" cy="749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Shifted Benchmark Arena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701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Shifted Arena: Sphere &amp; Rastrigin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96850" y="23114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optimum shifted to 123.456. Performance is measured by the gap to this optimum.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921147" y="3073400"/>
            <a:ext cx="4343400" cy="2082800"/>
          </a:xfrm>
          <a:custGeom>
            <a:avLst/>
            <a:gdLst/>
            <a:ahLst/>
            <a:cxnLst/>
            <a:rect l="l" t="t" r="r" b="b"/>
            <a:pathLst>
              <a:path w="4343400" h="2082800">
                <a:moveTo>
                  <a:pt x="203198" y="0"/>
                </a:moveTo>
                <a:lnTo>
                  <a:pt x="4140202" y="0"/>
                </a:lnTo>
                <a:cubicBezTo>
                  <a:pt x="4252425" y="0"/>
                  <a:pt x="4343400" y="90975"/>
                  <a:pt x="4343400" y="203198"/>
                </a:cubicBezTo>
                <a:lnTo>
                  <a:pt x="4343400" y="1879602"/>
                </a:lnTo>
                <a:cubicBezTo>
                  <a:pt x="4343400" y="1991825"/>
                  <a:pt x="4252425" y="2082800"/>
                  <a:pt x="41402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8A75F5">
              <a:alpha val="6667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49747" y="33782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Shifted Sphere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678583" y="3987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 Gap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425031" y="3987800"/>
            <a:ext cx="1029692" cy="355600"/>
          </a:xfrm>
          <a:custGeom>
            <a:avLst/>
            <a:gdLst/>
            <a:ahLst/>
            <a:cxnLst/>
            <a:rect l="l" t="t" r="r" b="b"/>
            <a:pathLst>
              <a:path w="1029692" h="355600">
                <a:moveTo>
                  <a:pt x="50801" y="0"/>
                </a:moveTo>
                <a:lnTo>
                  <a:pt x="978891" y="0"/>
                </a:lnTo>
                <a:cubicBezTo>
                  <a:pt x="1006948" y="0"/>
                  <a:pt x="1029692" y="22744"/>
                  <a:pt x="1029692" y="50801"/>
                </a:cubicBezTo>
                <a:lnTo>
                  <a:pt x="1029692" y="304799"/>
                </a:lnTo>
                <a:cubicBezTo>
                  <a:pt x="1029692" y="332856"/>
                  <a:pt x="1006948" y="355600"/>
                  <a:pt x="978891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0" name="Text 6"/>
          <p:cNvSpPr/>
          <p:nvPr/>
        </p:nvSpPr>
        <p:spPr>
          <a:xfrm>
            <a:off x="3367881" y="3987800"/>
            <a:ext cx="1143992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2109.51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80183" y="4495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 Gap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69481" y="4546600"/>
            <a:ext cx="940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2611.64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91002" y="3860800"/>
            <a:ext cx="83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A8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922492" y="3073400"/>
            <a:ext cx="4343400" cy="2082800"/>
          </a:xfrm>
          <a:custGeom>
            <a:avLst/>
            <a:gdLst/>
            <a:ahLst/>
            <a:cxnLst/>
            <a:rect l="l" t="t" r="r" b="b"/>
            <a:pathLst>
              <a:path w="4343400" h="2082800">
                <a:moveTo>
                  <a:pt x="203198" y="0"/>
                </a:moveTo>
                <a:lnTo>
                  <a:pt x="4140202" y="0"/>
                </a:lnTo>
                <a:cubicBezTo>
                  <a:pt x="4252425" y="0"/>
                  <a:pt x="4343400" y="90975"/>
                  <a:pt x="4343400" y="203198"/>
                </a:cubicBezTo>
                <a:lnTo>
                  <a:pt x="4343400" y="1879602"/>
                </a:lnTo>
                <a:cubicBezTo>
                  <a:pt x="4343400" y="1991825"/>
                  <a:pt x="4252425" y="2082800"/>
                  <a:pt x="41402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8EB8F8">
              <a:alpha val="10196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151092" y="33782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Shifted Rastrigin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679928" y="3987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 Gap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426377" y="3987800"/>
            <a:ext cx="1029692" cy="355600"/>
          </a:xfrm>
          <a:custGeom>
            <a:avLst/>
            <a:gdLst/>
            <a:ahLst/>
            <a:cxnLst/>
            <a:rect l="l" t="t" r="r" b="b"/>
            <a:pathLst>
              <a:path w="1029692" h="355600">
                <a:moveTo>
                  <a:pt x="50801" y="0"/>
                </a:moveTo>
                <a:lnTo>
                  <a:pt x="978891" y="0"/>
                </a:lnTo>
                <a:cubicBezTo>
                  <a:pt x="1006948" y="0"/>
                  <a:pt x="1029692" y="22744"/>
                  <a:pt x="1029692" y="50801"/>
                </a:cubicBezTo>
                <a:lnTo>
                  <a:pt x="1029692" y="304799"/>
                </a:lnTo>
                <a:cubicBezTo>
                  <a:pt x="1029692" y="332856"/>
                  <a:pt x="1006948" y="355600"/>
                  <a:pt x="978891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8" name="Text 14"/>
          <p:cNvSpPr/>
          <p:nvPr/>
        </p:nvSpPr>
        <p:spPr>
          <a:xfrm>
            <a:off x="9369227" y="3987800"/>
            <a:ext cx="1143992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2084.36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781528" y="4495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 Gap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470827" y="4546600"/>
            <a:ext cx="940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2379.53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701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Shifted Arena: Rosenbrock &amp; Griewank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96850" y="23114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Continued assessment of robustness under an offset optimum.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921147" y="3073400"/>
            <a:ext cx="4343400" cy="2082800"/>
          </a:xfrm>
          <a:custGeom>
            <a:avLst/>
            <a:gdLst/>
            <a:ahLst/>
            <a:cxnLst/>
            <a:rect l="l" t="t" r="r" b="b"/>
            <a:pathLst>
              <a:path w="4343400" h="2082800">
                <a:moveTo>
                  <a:pt x="203198" y="0"/>
                </a:moveTo>
                <a:lnTo>
                  <a:pt x="4140202" y="0"/>
                </a:lnTo>
                <a:cubicBezTo>
                  <a:pt x="4252425" y="0"/>
                  <a:pt x="4343400" y="90975"/>
                  <a:pt x="4343400" y="203198"/>
                </a:cubicBezTo>
                <a:lnTo>
                  <a:pt x="4343400" y="1879602"/>
                </a:lnTo>
                <a:cubicBezTo>
                  <a:pt x="4343400" y="1991825"/>
                  <a:pt x="4252425" y="2082800"/>
                  <a:pt x="41402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8A75F5">
              <a:alpha val="6667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49747" y="33782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Shifted Rosenbrock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615083" y="3987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 Gap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61531" y="3987800"/>
            <a:ext cx="1156692" cy="355600"/>
          </a:xfrm>
          <a:custGeom>
            <a:avLst/>
            <a:gdLst/>
            <a:ahLst/>
            <a:cxnLst/>
            <a:rect l="l" t="t" r="r" b="b"/>
            <a:pathLst>
              <a:path w="1156692" h="355600">
                <a:moveTo>
                  <a:pt x="50801" y="0"/>
                </a:moveTo>
                <a:lnTo>
                  <a:pt x="1105891" y="0"/>
                </a:lnTo>
                <a:cubicBezTo>
                  <a:pt x="1133948" y="0"/>
                  <a:pt x="1156692" y="22744"/>
                  <a:pt x="1156692" y="50801"/>
                </a:cubicBezTo>
                <a:lnTo>
                  <a:pt x="1156692" y="304799"/>
                </a:lnTo>
                <a:cubicBezTo>
                  <a:pt x="1156692" y="332856"/>
                  <a:pt x="1133948" y="355600"/>
                  <a:pt x="1105891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0" name="Text 6"/>
          <p:cNvSpPr/>
          <p:nvPr/>
        </p:nvSpPr>
        <p:spPr>
          <a:xfrm>
            <a:off x="3304381" y="3987800"/>
            <a:ext cx="1270992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15211.02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16683" y="4495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 Gap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05981" y="4546600"/>
            <a:ext cx="1067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25444.31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91002" y="3860800"/>
            <a:ext cx="83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A8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922492" y="3073400"/>
            <a:ext cx="4343400" cy="2082800"/>
          </a:xfrm>
          <a:custGeom>
            <a:avLst/>
            <a:gdLst/>
            <a:ahLst/>
            <a:cxnLst/>
            <a:rect l="l" t="t" r="r" b="b"/>
            <a:pathLst>
              <a:path w="4343400" h="2082800">
                <a:moveTo>
                  <a:pt x="203198" y="0"/>
                </a:moveTo>
                <a:lnTo>
                  <a:pt x="4140202" y="0"/>
                </a:lnTo>
                <a:cubicBezTo>
                  <a:pt x="4252425" y="0"/>
                  <a:pt x="4343400" y="90975"/>
                  <a:pt x="4343400" y="203198"/>
                </a:cubicBezTo>
                <a:lnTo>
                  <a:pt x="4343400" y="1879602"/>
                </a:lnTo>
                <a:cubicBezTo>
                  <a:pt x="4343400" y="1991825"/>
                  <a:pt x="4252425" y="2082800"/>
                  <a:pt x="41402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8EB8F8">
              <a:alpha val="10196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151092" y="3378200"/>
            <a:ext cx="3886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Shifted Griewank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870627" y="3987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617075" y="3987800"/>
            <a:ext cx="648295" cy="355600"/>
          </a:xfrm>
          <a:custGeom>
            <a:avLst/>
            <a:gdLst/>
            <a:ahLst/>
            <a:cxnLst/>
            <a:rect l="l" t="t" r="r" b="b"/>
            <a:pathLst>
              <a:path w="648295" h="355600">
                <a:moveTo>
                  <a:pt x="50801" y="0"/>
                </a:moveTo>
                <a:lnTo>
                  <a:pt x="597494" y="0"/>
                </a:lnTo>
                <a:cubicBezTo>
                  <a:pt x="625551" y="0"/>
                  <a:pt x="648295" y="22744"/>
                  <a:pt x="648295" y="50801"/>
                </a:cubicBezTo>
                <a:lnTo>
                  <a:pt x="648295" y="304799"/>
                </a:lnTo>
                <a:cubicBezTo>
                  <a:pt x="648295" y="332856"/>
                  <a:pt x="625551" y="355600"/>
                  <a:pt x="597494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8" name="Text 14"/>
          <p:cNvSpPr/>
          <p:nvPr/>
        </p:nvSpPr>
        <p:spPr>
          <a:xfrm>
            <a:off x="9559925" y="3987800"/>
            <a:ext cx="762595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1.38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972227" y="44958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661525" y="4546600"/>
            <a:ext cx="5593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1.40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pic>
        <p:nvPicPr>
          <p:cNvPr id="4" name="Image 2" descr="https://kimi-web-img.moonshot.cn/img/xpic.x-mol.com/64012a0656b6e150dd558ebe76bc7110c8d53f48.PNG"/>
          <p:cNvPicPr>
            <a:picLocks noChangeAspect="1"/>
          </p:cNvPicPr>
          <p:nvPr/>
        </p:nvPicPr>
        <p:blipFill>
          <a:blip r:embed="rId5"/>
          <a:srcRect l="20365" r="20365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3478"/>
            </a:avLst>
          </a:prstGeom>
        </p:spPr>
      </p:pic>
      <p:sp>
        <p:nvSpPr>
          <p:cNvPr id="5" name="Text 0"/>
          <p:cNvSpPr/>
          <p:nvPr/>
        </p:nvSpPr>
        <p:spPr>
          <a:xfrm>
            <a:off x="6604000" y="1320800"/>
            <a:ext cx="556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Shifted Levy Twist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604000" y="2032000"/>
            <a:ext cx="54483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one test where v2-ES prevails, highlighting a key trade-off.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6604000" y="3048000"/>
            <a:ext cx="5334000" cy="1016000"/>
          </a:xfrm>
          <a:custGeom>
            <a:avLst/>
            <a:gdLst/>
            <a:ahLst/>
            <a:cxnLst/>
            <a:rect l="l" t="t" r="r" b="b"/>
            <a:pathLst>
              <a:path w="5334000" h="1016000">
                <a:moveTo>
                  <a:pt x="101600" y="0"/>
                </a:moveTo>
                <a:lnTo>
                  <a:pt x="5232400" y="0"/>
                </a:lnTo>
                <a:cubicBezTo>
                  <a:pt x="5288475" y="0"/>
                  <a:pt x="5334000" y="45525"/>
                  <a:pt x="5334000" y="101600"/>
                </a:cubicBezTo>
                <a:lnTo>
                  <a:pt x="5334000" y="914400"/>
                </a:lnTo>
                <a:cubicBezTo>
                  <a:pt x="5334000" y="970475"/>
                  <a:pt x="5288475" y="1016000"/>
                  <a:pt x="523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6807200" y="3251200"/>
            <a:ext cx="504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v2-ES Gap: </a:t>
            </a:r>
            <a:r>
              <a:rPr lang="en-US" sz="1800" b="1" dirty="0">
                <a:solidFill>
                  <a:srgbClr val="8EB8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621.99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807200" y="3606800"/>
            <a:ext cx="501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Wins by leveraging fast convergence on sharp ridges.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6604000" y="4267200"/>
            <a:ext cx="5334000" cy="1270000"/>
          </a:xfrm>
          <a:custGeom>
            <a:avLst/>
            <a:gdLst/>
            <a:ahLst/>
            <a:cxnLst/>
            <a:rect l="l" t="t" r="r" b="b"/>
            <a:pathLst>
              <a:path w="5334000" h="1270000">
                <a:moveTo>
                  <a:pt x="101600" y="0"/>
                </a:moveTo>
                <a:lnTo>
                  <a:pt x="5232400" y="0"/>
                </a:lnTo>
                <a:cubicBezTo>
                  <a:pt x="5288475" y="0"/>
                  <a:pt x="5334000" y="45525"/>
                  <a:pt x="5334000" y="101600"/>
                </a:cubicBezTo>
                <a:lnTo>
                  <a:pt x="5334000" y="1168400"/>
                </a:lnTo>
                <a:cubicBezTo>
                  <a:pt x="5334000" y="1224475"/>
                  <a:pt x="5288475" y="1270000"/>
                  <a:pt x="52324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6807200" y="4470400"/>
            <a:ext cx="504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DirCIBA Gap: </a:t>
            </a:r>
            <a:r>
              <a:rPr lang="en-US" sz="1800" b="1" dirty="0">
                <a:solidFill>
                  <a:srgbClr val="8A75F5">
                    <a:alpha val="667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772.98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807200" y="4826000"/>
            <a:ext cx="501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Loses ground, showing its focus on robustness can be a slight disadvantage.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0-d2nfa318bjvh7rlj0gfg.jp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8241665" cy="749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Numeric Conclusions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7177" y="13716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252413" y="228302"/>
                </a:moveTo>
                <a:lnTo>
                  <a:pt x="224582" y="200471"/>
                </a:lnTo>
                <a:cubicBezTo>
                  <a:pt x="205978" y="181868"/>
                  <a:pt x="205978" y="151656"/>
                  <a:pt x="224582" y="133052"/>
                </a:cubicBezTo>
                <a:lnTo>
                  <a:pt x="395288" y="-37802"/>
                </a:lnTo>
                <a:cubicBezTo>
                  <a:pt x="413891" y="-56406"/>
                  <a:pt x="444103" y="-56406"/>
                  <a:pt x="462707" y="-37802"/>
                </a:cubicBezTo>
                <a:lnTo>
                  <a:pt x="490538" y="-9823"/>
                </a:lnTo>
                <a:cubicBezTo>
                  <a:pt x="509141" y="8781"/>
                  <a:pt x="509141" y="38993"/>
                  <a:pt x="490538" y="57596"/>
                </a:cubicBezTo>
                <a:lnTo>
                  <a:pt x="319832" y="228302"/>
                </a:lnTo>
                <a:cubicBezTo>
                  <a:pt x="301228" y="246906"/>
                  <a:pt x="271016" y="246906"/>
                  <a:pt x="252413" y="228302"/>
                </a:cubicBezTo>
                <a:close/>
                <a:moveTo>
                  <a:pt x="410766" y="315069"/>
                </a:moveTo>
                <a:lnTo>
                  <a:pt x="364034" y="268337"/>
                </a:lnTo>
                <a:lnTo>
                  <a:pt x="530721" y="101650"/>
                </a:lnTo>
                <a:lnTo>
                  <a:pt x="708422" y="279350"/>
                </a:lnTo>
                <a:lnTo>
                  <a:pt x="541734" y="446038"/>
                </a:lnTo>
                <a:lnTo>
                  <a:pt x="495002" y="399306"/>
                </a:lnTo>
                <a:lnTo>
                  <a:pt x="149721" y="744587"/>
                </a:lnTo>
                <a:cubicBezTo>
                  <a:pt x="126504" y="767804"/>
                  <a:pt x="88850" y="767804"/>
                  <a:pt x="65484" y="744587"/>
                </a:cubicBezTo>
                <a:cubicBezTo>
                  <a:pt x="42118" y="721370"/>
                  <a:pt x="42267" y="683716"/>
                  <a:pt x="65484" y="660350"/>
                </a:cubicBezTo>
                <a:lnTo>
                  <a:pt x="410766" y="315069"/>
                </a:lnTo>
                <a:close/>
                <a:moveTo>
                  <a:pt x="581769" y="557510"/>
                </a:moveTo>
                <a:cubicBezTo>
                  <a:pt x="563166" y="538907"/>
                  <a:pt x="563166" y="508695"/>
                  <a:pt x="581769" y="490091"/>
                </a:cubicBezTo>
                <a:lnTo>
                  <a:pt x="752475" y="319385"/>
                </a:lnTo>
                <a:cubicBezTo>
                  <a:pt x="771079" y="300782"/>
                  <a:pt x="801291" y="300782"/>
                  <a:pt x="819894" y="319385"/>
                </a:cubicBezTo>
                <a:lnTo>
                  <a:pt x="847725" y="347216"/>
                </a:lnTo>
                <a:cubicBezTo>
                  <a:pt x="866329" y="365820"/>
                  <a:pt x="866329" y="396032"/>
                  <a:pt x="847725" y="414635"/>
                </a:cubicBezTo>
                <a:lnTo>
                  <a:pt x="677019" y="585490"/>
                </a:lnTo>
                <a:cubicBezTo>
                  <a:pt x="658416" y="604093"/>
                  <a:pt x="628204" y="604093"/>
                  <a:pt x="609600" y="585490"/>
                </a:cubicBezTo>
                <a:lnTo>
                  <a:pt x="581769" y="557659"/>
                </a:ln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5" name="Text 1"/>
          <p:cNvSpPr/>
          <p:nvPr/>
        </p:nvSpPr>
        <p:spPr>
          <a:xfrm>
            <a:off x="2907705" y="2336800"/>
            <a:ext cx="637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Verdict on Original HEO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219200" y="3149600"/>
            <a:ext cx="9753600" cy="1676400"/>
          </a:xfrm>
          <a:custGeom>
            <a:avLst/>
            <a:gdLst/>
            <a:ahLst/>
            <a:cxnLst/>
            <a:rect l="l" t="t" r="r" b="b"/>
            <a:pathLst>
              <a:path w="9753600" h="1676400">
                <a:moveTo>
                  <a:pt x="203196" y="0"/>
                </a:moveTo>
                <a:lnTo>
                  <a:pt x="9550404" y="0"/>
                </a:lnTo>
                <a:cubicBezTo>
                  <a:pt x="9662626" y="0"/>
                  <a:pt x="9753600" y="90974"/>
                  <a:pt x="9753600" y="203196"/>
                </a:cubicBezTo>
                <a:lnTo>
                  <a:pt x="9753600" y="1473204"/>
                </a:lnTo>
                <a:cubicBezTo>
                  <a:pt x="9753600" y="1585426"/>
                  <a:pt x="9662626" y="1676400"/>
                  <a:pt x="9550404" y="1676400"/>
                </a:cubicBezTo>
                <a:lnTo>
                  <a:pt x="203196" y="1676400"/>
                </a:lnTo>
                <a:cubicBezTo>
                  <a:pt x="90974" y="1676400"/>
                  <a:pt x="0" y="1585426"/>
                  <a:pt x="0" y="14732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A75F5">
              <a:alpha val="6667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466850" y="3454400"/>
            <a:ext cx="92583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Across </a:t>
            </a:r>
            <a:r>
              <a:rPr lang="en-US" sz="1800" b="1" dirty="0">
                <a:solidFill>
                  <a:srgbClr val="8A75F5">
                    <a:alpha val="667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benchmarks</a:t>
            </a: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original HEO's performance is </a:t>
            </a:r>
            <a:r>
              <a:rPr lang="en-US" sz="1800" b="1" dirty="0">
                <a:solidFill>
                  <a:srgbClr val="8A75F5">
                    <a:alpha val="667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orders of magnitude worse</a:t>
            </a: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</a:t>
            </a:r>
            <a:r>
              <a:rPr lang="en-US" sz="1800" b="1" dirty="0">
                <a:solidFill>
                  <a:srgbClr val="8A75F5">
                    <a:alpha val="667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higher standard deviation</a:t>
            </a: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It provides </a:t>
            </a:r>
            <a:r>
              <a:rPr lang="en-US" sz="1800" b="1" dirty="0">
                <a:solidFill>
                  <a:srgbClr val="8A75F5">
                    <a:alpha val="667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statistical wins</a:t>
            </a: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is </a:t>
            </a:r>
            <a:r>
              <a:rPr lang="en-US" sz="1800" b="1" dirty="0">
                <a:solidFill>
                  <a:srgbClr val="8A75F5">
                    <a:alpha val="667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unconditionally dominated</a:t>
            </a:r>
            <a:r>
              <a:rPr lang="en-US" sz="18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its enhanced variants.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21409" y="5130800"/>
            <a:ext cx="614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evidence is clear: </a:t>
            </a:r>
            <a:r>
              <a:rPr lang="en-US" sz="2000" b="1" dirty="0">
                <a:solidFill>
                  <a:srgbClr val="3A3F6B"/>
                </a:solidFill>
                <a:highlight>
                  <a:srgbClr val="F8A8D8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baseline is obsolete.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117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Core Trade-Off: v2-ES vs. CIBA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60400" y="2032000"/>
            <a:ext cx="5232400" cy="3708400"/>
          </a:xfrm>
          <a:custGeom>
            <a:avLst/>
            <a:gdLst/>
            <a:ahLst/>
            <a:cxnLst/>
            <a:rect l="l" t="t" r="r" b="b"/>
            <a:pathLst>
              <a:path w="5232400" h="3708400">
                <a:moveTo>
                  <a:pt x="203183" y="0"/>
                </a:moveTo>
                <a:lnTo>
                  <a:pt x="5029217" y="0"/>
                </a:lnTo>
                <a:cubicBezTo>
                  <a:pt x="5141432" y="0"/>
                  <a:pt x="5232400" y="90968"/>
                  <a:pt x="5232400" y="203183"/>
                </a:cubicBezTo>
                <a:lnTo>
                  <a:pt x="5232400" y="3505217"/>
                </a:lnTo>
                <a:cubicBezTo>
                  <a:pt x="5232400" y="3617432"/>
                  <a:pt x="5141432" y="3708400"/>
                  <a:pt x="5029217" y="3708400"/>
                </a:cubicBezTo>
                <a:lnTo>
                  <a:pt x="203183" y="3708400"/>
                </a:lnTo>
                <a:cubicBezTo>
                  <a:pt x="90968" y="3708400"/>
                  <a:pt x="0" y="3617432"/>
                  <a:pt x="0" y="3505217"/>
                </a:cubicBezTo>
                <a:lnTo>
                  <a:pt x="0" y="203183"/>
                </a:lnTo>
                <a:cubicBezTo>
                  <a:pt x="0" y="91043"/>
                  <a:pt x="91043" y="0"/>
                  <a:pt x="203183" y="0"/>
                </a:cubicBezTo>
                <a:close/>
              </a:path>
            </a:pathLst>
          </a:custGeom>
          <a:solidFill>
            <a:srgbClr val="8EB8F8">
              <a:alpha val="10196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2971800" y="2336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8EB8F8"/>
          </a:solidFill>
          <a:ln/>
        </p:spPr>
      </p:sp>
      <p:sp>
        <p:nvSpPr>
          <p:cNvPr id="7" name="Text 3"/>
          <p:cNvSpPr/>
          <p:nvPr/>
        </p:nvSpPr>
        <p:spPr>
          <a:xfrm>
            <a:off x="1633538" y="3149600"/>
            <a:ext cx="328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v2-ES: The Speedster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3708400"/>
            <a:ext cx="472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Delivers the </a:t>
            </a:r>
            <a:r>
              <a:rPr lang="en-US" sz="16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fastest convergence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unimodal and Levy functions, making it ideal for quick solutions on clean problems.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48260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Sacrifices robustness when the optimum is shifted.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99200" y="2032000"/>
            <a:ext cx="5232400" cy="3708400"/>
          </a:xfrm>
          <a:custGeom>
            <a:avLst/>
            <a:gdLst/>
            <a:ahLst/>
            <a:cxnLst/>
            <a:rect l="l" t="t" r="r" b="b"/>
            <a:pathLst>
              <a:path w="5232400" h="3708400">
                <a:moveTo>
                  <a:pt x="203183" y="0"/>
                </a:moveTo>
                <a:lnTo>
                  <a:pt x="5029217" y="0"/>
                </a:lnTo>
                <a:cubicBezTo>
                  <a:pt x="5141432" y="0"/>
                  <a:pt x="5232400" y="90968"/>
                  <a:pt x="5232400" y="203183"/>
                </a:cubicBezTo>
                <a:lnTo>
                  <a:pt x="5232400" y="3505217"/>
                </a:lnTo>
                <a:cubicBezTo>
                  <a:pt x="5232400" y="3617432"/>
                  <a:pt x="5141432" y="3708400"/>
                  <a:pt x="5029217" y="3708400"/>
                </a:cubicBezTo>
                <a:lnTo>
                  <a:pt x="203183" y="3708400"/>
                </a:lnTo>
                <a:cubicBezTo>
                  <a:pt x="90968" y="3708400"/>
                  <a:pt x="0" y="3617432"/>
                  <a:pt x="0" y="3505217"/>
                </a:cubicBezTo>
                <a:lnTo>
                  <a:pt x="0" y="203183"/>
                </a:lnTo>
                <a:cubicBezTo>
                  <a:pt x="0" y="91043"/>
                  <a:pt x="91043" y="0"/>
                  <a:pt x="203183" y="0"/>
                </a:cubicBezTo>
                <a:close/>
              </a:path>
            </a:pathLst>
          </a:custGeom>
          <a:solidFill>
            <a:srgbClr val="8A75F5">
              <a:alpha val="6667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8610600" y="2336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365165" y="387072"/>
                </a:moveTo>
                <a:lnTo>
                  <a:pt x="193358" y="453152"/>
                </a:lnTo>
                <a:cubicBezTo>
                  <a:pt x="170259" y="462082"/>
                  <a:pt x="147518" y="439341"/>
                  <a:pt x="156448" y="416243"/>
                </a:cubicBezTo>
                <a:lnTo>
                  <a:pt x="222528" y="244435"/>
                </a:lnTo>
                <a:cubicBezTo>
                  <a:pt x="226457" y="234315"/>
                  <a:pt x="234315" y="226457"/>
                  <a:pt x="244435" y="222528"/>
                </a:cubicBezTo>
                <a:lnTo>
                  <a:pt x="416243" y="156448"/>
                </a:lnTo>
                <a:cubicBezTo>
                  <a:pt x="439341" y="147518"/>
                  <a:pt x="462082" y="170259"/>
                  <a:pt x="453152" y="193358"/>
                </a:cubicBezTo>
                <a:lnTo>
                  <a:pt x="387072" y="365165"/>
                </a:lnTo>
                <a:cubicBezTo>
                  <a:pt x="383262" y="375285"/>
                  <a:pt x="375285" y="383143"/>
                  <a:pt x="365165" y="387072"/>
                </a:cubicBezTo>
                <a:close/>
                <a:moveTo>
                  <a:pt x="342900" y="304800"/>
                </a:moveTo>
                <a:cubicBezTo>
                  <a:pt x="342900" y="283772"/>
                  <a:pt x="325828" y="266700"/>
                  <a:pt x="304800" y="266700"/>
                </a:cubicBezTo>
                <a:cubicBezTo>
                  <a:pt x="283772" y="266700"/>
                  <a:pt x="266700" y="283772"/>
                  <a:pt x="266700" y="304800"/>
                </a:cubicBezTo>
                <a:cubicBezTo>
                  <a:pt x="266700" y="325828"/>
                  <a:pt x="283772" y="342900"/>
                  <a:pt x="304800" y="342900"/>
                </a:cubicBezTo>
                <a:cubicBezTo>
                  <a:pt x="325828" y="342900"/>
                  <a:pt x="342900" y="325828"/>
                  <a:pt x="342900" y="30480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442002" y="3149600"/>
            <a:ext cx="294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CIBA: The Explorer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3200" y="3708400"/>
            <a:ext cx="472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Improves </a:t>
            </a:r>
            <a:r>
              <a:rPr lang="en-US" sz="16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exploration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capabilities, which is beneficial for complex landscapes, but can be slower to converge.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53200" y="48260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Shows instability near the true optimum, widening gaps when shifted.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37-d2nfa298bjvh7rlj0g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447800"/>
            <a:ext cx="6070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DirCIBA: Crown Confirmed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2667000"/>
            <a:ext cx="59563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A3F6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Achieving the optimal balance of exploration, exploitation, and robustness.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3050" y="3733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6333" y="51911"/>
                </a:moveTo>
                <a:cubicBezTo>
                  <a:pt x="191810" y="47565"/>
                  <a:pt x="195263" y="40838"/>
                  <a:pt x="195263" y="33338"/>
                </a:cubicBezTo>
                <a:cubicBezTo>
                  <a:pt x="195263" y="20181"/>
                  <a:pt x="184606" y="9525"/>
                  <a:pt x="171450" y="9525"/>
                </a:cubicBezTo>
                <a:cubicBezTo>
                  <a:pt x="158294" y="9525"/>
                  <a:pt x="147638" y="20181"/>
                  <a:pt x="147638" y="33338"/>
                </a:cubicBezTo>
                <a:cubicBezTo>
                  <a:pt x="147638" y="40838"/>
                  <a:pt x="151150" y="47565"/>
                  <a:pt x="156567" y="51911"/>
                </a:cubicBezTo>
                <a:lnTo>
                  <a:pt x="115848" y="115967"/>
                </a:lnTo>
                <a:cubicBezTo>
                  <a:pt x="109895" y="125313"/>
                  <a:pt x="97215" y="127635"/>
                  <a:pt x="88344" y="120968"/>
                </a:cubicBezTo>
                <a:lnTo>
                  <a:pt x="52923" y="94476"/>
                </a:lnTo>
                <a:cubicBezTo>
                  <a:pt x="55602" y="90666"/>
                  <a:pt x="57150" y="85963"/>
                  <a:pt x="57150" y="80962"/>
                </a:cubicBezTo>
                <a:cubicBezTo>
                  <a:pt x="57150" y="67806"/>
                  <a:pt x="46494" y="57150"/>
                  <a:pt x="33338" y="57150"/>
                </a:cubicBezTo>
                <a:cubicBezTo>
                  <a:pt x="20181" y="57150"/>
                  <a:pt x="9525" y="67806"/>
                  <a:pt x="9525" y="80962"/>
                </a:cubicBezTo>
                <a:cubicBezTo>
                  <a:pt x="9525" y="93940"/>
                  <a:pt x="19943" y="104537"/>
                  <a:pt x="32861" y="104775"/>
                </a:cubicBezTo>
                <a:lnTo>
                  <a:pt x="52268" y="234255"/>
                </a:lnTo>
                <a:cubicBezTo>
                  <a:pt x="55066" y="252889"/>
                  <a:pt x="71080" y="266700"/>
                  <a:pt x="89952" y="266700"/>
                </a:cubicBezTo>
                <a:lnTo>
                  <a:pt x="252948" y="266700"/>
                </a:lnTo>
                <a:cubicBezTo>
                  <a:pt x="271820" y="266700"/>
                  <a:pt x="287834" y="252889"/>
                  <a:pt x="290632" y="234255"/>
                </a:cubicBezTo>
                <a:lnTo>
                  <a:pt x="310039" y="104775"/>
                </a:lnTo>
                <a:cubicBezTo>
                  <a:pt x="322957" y="104537"/>
                  <a:pt x="333375" y="93940"/>
                  <a:pt x="333375" y="80962"/>
                </a:cubicBezTo>
                <a:cubicBezTo>
                  <a:pt x="333375" y="67806"/>
                  <a:pt x="322719" y="57150"/>
                  <a:pt x="309563" y="57150"/>
                </a:cubicBezTo>
                <a:cubicBezTo>
                  <a:pt x="296406" y="57150"/>
                  <a:pt x="285750" y="67806"/>
                  <a:pt x="285750" y="80962"/>
                </a:cubicBezTo>
                <a:cubicBezTo>
                  <a:pt x="285750" y="85963"/>
                  <a:pt x="287298" y="90666"/>
                  <a:pt x="289977" y="94476"/>
                </a:cubicBezTo>
                <a:lnTo>
                  <a:pt x="254615" y="121027"/>
                </a:lnTo>
                <a:cubicBezTo>
                  <a:pt x="245745" y="127695"/>
                  <a:pt x="233065" y="125373"/>
                  <a:pt x="227112" y="116026"/>
                </a:cubicBezTo>
                <a:lnTo>
                  <a:pt x="186333" y="51911"/>
                </a:ln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7" name="Text 3"/>
          <p:cNvSpPr/>
          <p:nvPr/>
        </p:nvSpPr>
        <p:spPr>
          <a:xfrm>
            <a:off x="838200" y="3683000"/>
            <a:ext cx="481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overall mean on </a:t>
            </a:r>
            <a:r>
              <a:rPr lang="en-US" sz="16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of 5 zero-min benchmarks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92100" y="429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9" name="Text 5"/>
          <p:cNvSpPr/>
          <p:nvPr/>
        </p:nvSpPr>
        <p:spPr>
          <a:xfrm>
            <a:off x="838200" y="424180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Wins </a:t>
            </a:r>
            <a:r>
              <a:rPr lang="en-US" sz="16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of 5 shifted tests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proving superior robustness.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34950" y="4851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F8A8D8"/>
          </a:solidFill>
          <a:ln/>
        </p:spPr>
      </p:sp>
      <p:sp>
        <p:nvSpPr>
          <p:cNvPr id="11" name="Text 7"/>
          <p:cNvSpPr/>
          <p:nvPr/>
        </p:nvSpPr>
        <p:spPr>
          <a:xfrm>
            <a:off x="794147" y="4800600"/>
            <a:ext cx="539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Combines the </a:t>
            </a:r>
            <a:r>
              <a:rPr lang="en-US" sz="16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lowest gaps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</a:t>
            </a:r>
            <a:r>
              <a:rPr lang="en-US" sz="1600" b="1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competitive standard deviation</a:t>
            </a:r>
            <a:r>
              <a:rPr lang="en-US" sz="1600" dirty="0">
                <a:solidFill>
                  <a:srgbClr val="3A3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37-d2nfa298bjvh7rlj0gcg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26" r="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7:41-d2nfa398bjvh7rlj0gj0.jp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0" y="3175"/>
            <a:ext cx="12233275" cy="686752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20:07:36-d2nfa218bjvh7rlj0g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575" y="4392930"/>
            <a:ext cx="2142130" cy="55308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648707" y="4486663"/>
            <a:ext cx="2013206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Ali Soltani</a:t>
            </a:r>
          </a:p>
        </p:txBody>
      </p:sp>
      <p:pic>
        <p:nvPicPr>
          <p:cNvPr id="6" name="Image 3" descr="https://kimi-img.moonshot.cn/pub/slides/slides_tmpl/image/25-08-27-20:07:36-d2nfa218bjvh7rlj0g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938" y="4392930"/>
            <a:ext cx="2142130" cy="55308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509070" y="4486663"/>
            <a:ext cx="2013206" cy="398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 LOGO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272540" y="1740535"/>
            <a:ext cx="9325610" cy="29165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E6E6E6"/>
      </a:dk2>
      <a:lt2>
        <a:srgbClr val="FFFFFF"/>
      </a:lt2>
      <a:accent1>
        <a:srgbClr val="E6E6FD"/>
      </a:accent1>
      <a:accent2>
        <a:srgbClr val="E1ADFD"/>
      </a:accent2>
      <a:accent3>
        <a:srgbClr val="94E7FC"/>
      </a:accent3>
      <a:accent4>
        <a:srgbClr val="3462F9"/>
      </a:accent4>
      <a:accent5>
        <a:srgbClr val="B0D9FC"/>
      </a:accent5>
      <a:accent6>
        <a:srgbClr val="C1D1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555</Words>
  <Application>Microsoft Office PowerPoint</Application>
  <PresentationFormat>Widescreen</PresentationFormat>
  <Paragraphs>166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MiSans</vt:lpstr>
      <vt:lpstr>Noto Sans SC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HEO Variants Benchmark Duel</dc:title>
  <dc:subject>HEO Variants Benchmark Duel</dc:subject>
  <dc:creator>Kimi</dc:creator>
  <cp:lastModifiedBy>solta</cp:lastModifiedBy>
  <cp:revision>2</cp:revision>
  <dcterms:created xsi:type="dcterms:W3CDTF">2025-12-14T09:58:09Z</dcterms:created>
  <dcterms:modified xsi:type="dcterms:W3CDTF">2025-12-14T10:24:06Z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{"Label":"HEO Variants Benchmark Duel","ContentProducer":"001191110108MACG2KBH8F10000","ProduceID":"d4v62dfaa0vd6k4g7qp0","ReservedCode1":"","ContentPropagator":"001191110108MACG2KBH8F20000","PropagateID":"d4v62dfaa0vd6k4g7qp0","ReservedCode2":""}</vt:lpwstr>
  </property>
</Properties>
</file>